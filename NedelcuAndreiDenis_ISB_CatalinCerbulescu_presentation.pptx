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6858000" cx="12192000"/>
  <p:notesSz cx="6858000" cy="9144000"/>
  <p:embeddedFontLst>
    <p:embeddedFont>
      <p:font typeface="Poppins"/>
      <p:regular r:id="rId22"/>
      <p:bold r:id="rId23"/>
      <p:italic r:id="rId24"/>
      <p:boldItalic r:id="rId25"/>
    </p:embeddedFont>
    <p:embeddedFont>
      <p:font typeface="Urbanist SemiBold"/>
      <p:regular r:id="rId26"/>
      <p:bold r:id="rId27"/>
      <p:italic r:id="rId28"/>
      <p:boldItalic r:id="rId29"/>
    </p:embeddedFont>
    <p:embeddedFont>
      <p:font typeface="Urbanist"/>
      <p:regular r:id="rId30"/>
      <p:bold r:id="rId31"/>
      <p:italic r:id="rId32"/>
      <p:boldItalic r:id="rId33"/>
    </p:embeddedFont>
    <p:embeddedFont>
      <p:font typeface="Poppins SemiBold"/>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751B710-472B-4550-BD42-738B71C01416}">
  <a:tblStyle styleId="{8751B710-472B-4550-BD42-738B71C01416}"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Poppins-regular.fntdata"/><Relationship Id="rId21" Type="http://schemas.openxmlformats.org/officeDocument/2006/relationships/slide" Target="slides/slide15.xml"/><Relationship Id="rId24" Type="http://schemas.openxmlformats.org/officeDocument/2006/relationships/font" Target="fonts/Poppins-italic.fntdata"/><Relationship Id="rId23" Type="http://schemas.openxmlformats.org/officeDocument/2006/relationships/font" Target="fonts/Poppins-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UrbanistSemiBold-regular.fntdata"/><Relationship Id="rId25" Type="http://schemas.openxmlformats.org/officeDocument/2006/relationships/font" Target="fonts/Poppins-boldItalic.fntdata"/><Relationship Id="rId28" Type="http://schemas.openxmlformats.org/officeDocument/2006/relationships/font" Target="fonts/UrbanistSemiBold-italic.fntdata"/><Relationship Id="rId27" Type="http://schemas.openxmlformats.org/officeDocument/2006/relationships/font" Target="fonts/UrbanistSemiBold-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UrbanistSemiBold-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Urbanist-bold.fntdata"/><Relationship Id="rId30" Type="http://schemas.openxmlformats.org/officeDocument/2006/relationships/font" Target="fonts/Urbanist-regular.fntdata"/><Relationship Id="rId11" Type="http://schemas.openxmlformats.org/officeDocument/2006/relationships/slide" Target="slides/slide5.xml"/><Relationship Id="rId33" Type="http://schemas.openxmlformats.org/officeDocument/2006/relationships/font" Target="fonts/Urbanist-boldItalic.fntdata"/><Relationship Id="rId10" Type="http://schemas.openxmlformats.org/officeDocument/2006/relationships/slide" Target="slides/slide4.xml"/><Relationship Id="rId32" Type="http://schemas.openxmlformats.org/officeDocument/2006/relationships/font" Target="fonts/Urbanist-italic.fntdata"/><Relationship Id="rId13" Type="http://schemas.openxmlformats.org/officeDocument/2006/relationships/slide" Target="slides/slide7.xml"/><Relationship Id="rId35" Type="http://schemas.openxmlformats.org/officeDocument/2006/relationships/font" Target="fonts/PoppinsSemiBold-bold.fntdata"/><Relationship Id="rId12" Type="http://schemas.openxmlformats.org/officeDocument/2006/relationships/slide" Target="slides/slide6.xml"/><Relationship Id="rId34" Type="http://schemas.openxmlformats.org/officeDocument/2006/relationships/font" Target="fonts/PoppinsSemiBold-regular.fntdata"/><Relationship Id="rId15" Type="http://schemas.openxmlformats.org/officeDocument/2006/relationships/slide" Target="slides/slide9.xml"/><Relationship Id="rId37" Type="http://schemas.openxmlformats.org/officeDocument/2006/relationships/font" Target="fonts/PoppinsSemiBold-boldItalic.fntdata"/><Relationship Id="rId14" Type="http://schemas.openxmlformats.org/officeDocument/2006/relationships/slide" Target="slides/slide8.xml"/><Relationship Id="rId36" Type="http://schemas.openxmlformats.org/officeDocument/2006/relationships/font" Target="fonts/PoppinsSemi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f0d81bd8d4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g3f0d81bd8d4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f0d81bd8d4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g3f0d81bd8d4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10.png"/><Relationship Id="rId6"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8.png"/><Relationship Id="rId6"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15.png"/><Relationship Id="rId6"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18.png"/><Relationship Id="rId6"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9"/>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771525" y="4370933"/>
            <a:ext cx="10648950" cy="685800"/>
          </a:xfrm>
          <a:prstGeom prst="rect">
            <a:avLst/>
          </a:prstGeom>
          <a:noFill/>
          <a:ln>
            <a:noFill/>
          </a:ln>
        </p:spPr>
      </p:pic>
      <p:sp>
        <p:nvSpPr>
          <p:cNvPr id="86" name="Google Shape;86;p13"/>
          <p:cNvSpPr txBox="1"/>
          <p:nvPr/>
        </p:nvSpPr>
        <p:spPr>
          <a:xfrm>
            <a:off x="2343150" y="1801117"/>
            <a:ext cx="7505700" cy="19809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975" u="none" cap="none" strike="noStrike">
                <a:solidFill>
                  <a:srgbClr val="10B981"/>
                </a:solidFill>
                <a:latin typeface="Poppins SemiBold"/>
                <a:ea typeface="Poppins SemiBold"/>
                <a:cs typeface="Poppins SemiBold"/>
                <a:sym typeface="Poppins SemiBold"/>
              </a:rPr>
              <a:t>UNIVERSITY OF CRAIOVA • FACULTY OF AUTOMATION, COMPUTERS AND ELECTRONICS</a:t>
            </a:r>
            <a:endParaRPr/>
          </a:p>
        </p:txBody>
      </p:sp>
      <p:sp>
        <p:nvSpPr>
          <p:cNvPr id="87" name="Google Shape;87;p13"/>
          <p:cNvSpPr txBox="1"/>
          <p:nvPr/>
        </p:nvSpPr>
        <p:spPr>
          <a:xfrm>
            <a:off x="595312" y="2189708"/>
            <a:ext cx="11001300" cy="1090800"/>
          </a:xfrm>
          <a:prstGeom prst="rect">
            <a:avLst/>
          </a:prstGeom>
          <a:noFill/>
          <a:ln>
            <a:noFill/>
          </a:ln>
        </p:spPr>
        <p:txBody>
          <a:bodyPr anchorCtr="0" anchor="t" bIns="0" lIns="0" spcFirstLastPara="1" rIns="0" wrap="square" tIns="0">
            <a:spAutoFit/>
          </a:bodyPr>
          <a:lstStyle/>
          <a:p>
            <a:pPr indent="0" lvl="0" marL="0" marR="0" rtl="0" algn="ctr">
              <a:lnSpc>
                <a:spcPct val="124984"/>
              </a:lnSpc>
              <a:spcBef>
                <a:spcPts val="0"/>
              </a:spcBef>
              <a:spcAft>
                <a:spcPts val="0"/>
              </a:spcAft>
              <a:buNone/>
            </a:pPr>
            <a:r>
              <a:rPr b="1" i="0" lang="en-US" sz="3150" u="none" cap="none" strike="noStrike">
                <a:solidFill>
                  <a:srgbClr val="FFFFFF"/>
                </a:solidFill>
                <a:latin typeface="Poppins"/>
                <a:ea typeface="Poppins"/>
                <a:cs typeface="Poppins"/>
                <a:sym typeface="Poppins"/>
              </a:rPr>
              <a:t>Analysis of Stock Market Prediction Algorithms based on </a:t>
            </a:r>
            <a:r>
              <a:rPr b="1" i="0" lang="en-US" sz="3150" u="none" cap="none" strike="noStrike">
                <a:solidFill>
                  <a:schemeClr val="lt1"/>
                </a:solidFill>
                <a:latin typeface="Poppins"/>
                <a:ea typeface="Poppins"/>
                <a:cs typeface="Poppins"/>
                <a:sym typeface="Poppins"/>
              </a:rPr>
              <a:t>Deep Learning</a:t>
            </a:r>
            <a:r>
              <a:rPr b="1" i="0" lang="en-US" sz="3150" u="none" cap="none" strike="noStrike">
                <a:solidFill>
                  <a:srgbClr val="FFFFFF"/>
                </a:solidFill>
                <a:latin typeface="Poppins"/>
                <a:ea typeface="Poppins"/>
                <a:cs typeface="Poppins"/>
                <a:sym typeface="Poppins"/>
              </a:rPr>
              <a:t> Models</a:t>
            </a:r>
            <a:endParaRPr/>
          </a:p>
        </p:txBody>
      </p:sp>
      <p:sp>
        <p:nvSpPr>
          <p:cNvPr id="88" name="Google Shape;88;p13"/>
          <p:cNvSpPr txBox="1"/>
          <p:nvPr/>
        </p:nvSpPr>
        <p:spPr>
          <a:xfrm>
            <a:off x="1809750" y="3427958"/>
            <a:ext cx="8572500" cy="51435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350" u="none" cap="none" strike="noStrike">
                <a:solidFill>
                  <a:srgbClr val="9CA3AF"/>
                </a:solidFill>
                <a:latin typeface="Urbanist"/>
                <a:ea typeface="Urbanist"/>
                <a:cs typeface="Urbanist"/>
                <a:sym typeface="Urbanist"/>
              </a:rPr>
              <a:t>A comprehensive comparative research of LSTM and GRU Recurrent Neural Networks in modern digital business frameworks, analyzed across diverse equity classes (AAPL, NVDA, JPM) over a 12-year window (2014-2026).</a:t>
            </a:r>
            <a:endParaRPr/>
          </a:p>
        </p:txBody>
      </p:sp>
      <p:sp>
        <p:nvSpPr>
          <p:cNvPr id="89" name="Google Shape;89;p13"/>
          <p:cNvSpPr txBox="1"/>
          <p:nvPr/>
        </p:nvSpPr>
        <p:spPr>
          <a:xfrm>
            <a:off x="771525" y="4666208"/>
            <a:ext cx="3295800" cy="369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rgbClr val="6B7280"/>
                </a:solidFill>
                <a:latin typeface="Urbanist"/>
                <a:ea typeface="Urbanist"/>
                <a:cs typeface="Urbanist"/>
                <a:sym typeface="Urbanist"/>
              </a:rPr>
              <a:t>Student</a:t>
            </a:r>
            <a:endParaRPr sz="1200">
              <a:solidFill>
                <a:srgbClr val="6B7280"/>
              </a:solidFill>
              <a:latin typeface="Urbanist"/>
              <a:ea typeface="Urbanist"/>
              <a:cs typeface="Urbanist"/>
              <a:sym typeface="Urbanist"/>
            </a:endParaRPr>
          </a:p>
          <a:p>
            <a:pPr indent="0" lvl="0" marL="0" marR="0" rtl="0" algn="ctr">
              <a:spcBef>
                <a:spcPts val="0"/>
              </a:spcBef>
              <a:spcAft>
                <a:spcPts val="0"/>
              </a:spcAft>
              <a:buNone/>
            </a:pPr>
            <a:r>
              <a:rPr b="0" i="0" lang="en-US" sz="1200" u="none" cap="none" strike="noStrike">
                <a:solidFill>
                  <a:srgbClr val="E5E7EB"/>
                </a:solidFill>
                <a:latin typeface="Urbanist SemiBold"/>
                <a:ea typeface="Urbanist SemiBold"/>
                <a:cs typeface="Urbanist SemiBold"/>
                <a:sym typeface="Urbanist SemiBold"/>
              </a:rPr>
              <a:t>Andrei-Denis NEDELCU</a:t>
            </a:r>
            <a:endParaRPr/>
          </a:p>
        </p:txBody>
      </p:sp>
      <p:sp>
        <p:nvSpPr>
          <p:cNvPr id="90" name="Google Shape;90;p13"/>
          <p:cNvSpPr txBox="1"/>
          <p:nvPr/>
        </p:nvSpPr>
        <p:spPr>
          <a:xfrm>
            <a:off x="4448175" y="4666208"/>
            <a:ext cx="3295800" cy="369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200" u="none" cap="none" strike="noStrike">
                <a:solidFill>
                  <a:srgbClr val="6B7280"/>
                </a:solidFill>
                <a:latin typeface="Urbanist"/>
                <a:ea typeface="Urbanist"/>
                <a:cs typeface="Urbanist"/>
                <a:sym typeface="Urbanist"/>
              </a:rPr>
              <a:t>Coordinator</a:t>
            </a:r>
            <a:r>
              <a:rPr b="0" i="0" lang="en-US" sz="1200" u="none" cap="none" strike="noStrike">
                <a:solidFill>
                  <a:srgbClr val="000000"/>
                </a:solidFill>
                <a:latin typeface="Urbanist"/>
                <a:ea typeface="Urbanist"/>
                <a:cs typeface="Urbanist"/>
                <a:sym typeface="Urbanist"/>
              </a:rPr>
              <a:t> </a:t>
            </a:r>
            <a:endParaRPr b="0" i="0" sz="1200" u="none" cap="none" strike="noStrike">
              <a:solidFill>
                <a:srgbClr val="000000"/>
              </a:solidFill>
              <a:latin typeface="Urbanist"/>
              <a:ea typeface="Urbanist"/>
              <a:cs typeface="Urbanist"/>
              <a:sym typeface="Urbanist"/>
            </a:endParaRPr>
          </a:p>
          <a:p>
            <a:pPr indent="0" lvl="0" marL="0" marR="0" rtl="0" algn="ctr">
              <a:spcBef>
                <a:spcPts val="0"/>
              </a:spcBef>
              <a:spcAft>
                <a:spcPts val="0"/>
              </a:spcAft>
              <a:buNone/>
            </a:pPr>
            <a:r>
              <a:rPr b="0" i="0" lang="en-US" sz="1200" u="none" cap="none" strike="noStrike">
                <a:solidFill>
                  <a:srgbClr val="E5E7EB"/>
                </a:solidFill>
                <a:latin typeface="Urbanist SemiBold"/>
                <a:ea typeface="Urbanist SemiBold"/>
                <a:cs typeface="Urbanist SemiBold"/>
                <a:sym typeface="Urbanist SemiBold"/>
              </a:rPr>
              <a:t>Catalin-Constantin CE</a:t>
            </a:r>
            <a:r>
              <a:rPr b="0" i="0" lang="en-US" sz="1200" u="none" cap="none" strike="noStrike">
                <a:solidFill>
                  <a:srgbClr val="E5E7EB"/>
                </a:solidFill>
                <a:latin typeface="Urbanist SemiBold"/>
                <a:ea typeface="Urbanist SemiBold"/>
                <a:cs typeface="Urbanist SemiBold"/>
                <a:sym typeface="Urbanist SemiBold"/>
              </a:rPr>
              <a:t>RBULESCU</a:t>
            </a:r>
            <a:endParaRPr/>
          </a:p>
        </p:txBody>
      </p:sp>
      <p:sp>
        <p:nvSpPr>
          <p:cNvPr id="91" name="Google Shape;91;p13"/>
          <p:cNvSpPr txBox="1"/>
          <p:nvPr/>
        </p:nvSpPr>
        <p:spPr>
          <a:xfrm>
            <a:off x="8124825" y="4666208"/>
            <a:ext cx="3295800" cy="369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200" u="none" cap="none" strike="noStrike">
                <a:solidFill>
                  <a:srgbClr val="6B7280"/>
                </a:solidFill>
                <a:latin typeface="Urbanist"/>
                <a:ea typeface="Urbanist"/>
                <a:cs typeface="Urbanist"/>
                <a:sym typeface="Urbanist"/>
              </a:rPr>
              <a:t>Session</a:t>
            </a:r>
            <a:r>
              <a:rPr b="0" i="0" lang="en-US" sz="1200" u="none" cap="none" strike="noStrike">
                <a:solidFill>
                  <a:srgbClr val="000000"/>
                </a:solidFill>
                <a:latin typeface="Urbanist"/>
                <a:ea typeface="Urbanist"/>
                <a:cs typeface="Urbanist"/>
                <a:sym typeface="Urbanist"/>
              </a:rPr>
              <a:t> </a:t>
            </a:r>
            <a:endParaRPr b="0" i="0" sz="1200" u="none" cap="none" strike="noStrike">
              <a:solidFill>
                <a:srgbClr val="000000"/>
              </a:solidFill>
              <a:latin typeface="Urbanist"/>
              <a:ea typeface="Urbanist"/>
              <a:cs typeface="Urbanist"/>
              <a:sym typeface="Urbanist"/>
            </a:endParaRPr>
          </a:p>
          <a:p>
            <a:pPr indent="0" lvl="0" marL="0" marR="0" rtl="0" algn="ctr">
              <a:spcBef>
                <a:spcPts val="0"/>
              </a:spcBef>
              <a:spcAft>
                <a:spcPts val="0"/>
              </a:spcAft>
              <a:buNone/>
            </a:pPr>
            <a:r>
              <a:rPr b="0" i="0" lang="en-US" sz="1200" u="none" cap="none" strike="noStrike">
                <a:solidFill>
                  <a:srgbClr val="E5E7EB"/>
                </a:solidFill>
                <a:latin typeface="Urbanist SemiBold"/>
                <a:ea typeface="Urbanist SemiBold"/>
                <a:cs typeface="Urbanist SemiBold"/>
                <a:sym typeface="Urbanist SemiBold"/>
              </a:rPr>
              <a:t>July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9"/>
        </a:solidFill>
      </p:bgPr>
    </p:bg>
    <p:spTree>
      <p:nvGrpSpPr>
        <p:cNvPr id="95" name="Shape 95"/>
        <p:cNvGrpSpPr/>
        <p:nvPr/>
      </p:nvGrpSpPr>
      <p:grpSpPr>
        <a:xfrm>
          <a:off x="0" y="0"/>
          <a:ext cx="0" cy="0"/>
          <a:chOff x="0" y="0"/>
          <a:chExt cx="0" cy="0"/>
        </a:xfrm>
      </p:grpSpPr>
      <p:pic>
        <p:nvPicPr>
          <p:cNvPr descr="image.png" id="96" name="Google Shape;96;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7" name="Google Shape;97;p14"/>
          <p:cNvPicPr preferRelativeResize="0"/>
          <p:nvPr/>
        </p:nvPicPr>
        <p:blipFill rotWithShape="1">
          <a:blip r:embed="rId4">
            <a:alphaModFix/>
          </a:blip>
          <a:srcRect b="0" l="0" r="0" t="0"/>
          <a:stretch/>
        </p:blipFill>
        <p:spPr>
          <a:xfrm>
            <a:off x="771525" y="2258615"/>
            <a:ext cx="5181600" cy="3216919"/>
          </a:xfrm>
          <a:prstGeom prst="rect">
            <a:avLst/>
          </a:prstGeom>
          <a:noFill/>
          <a:ln>
            <a:noFill/>
          </a:ln>
        </p:spPr>
      </p:pic>
      <p:pic>
        <p:nvPicPr>
          <p:cNvPr descr="image.png" id="98" name="Google Shape;98;p14"/>
          <p:cNvPicPr preferRelativeResize="0"/>
          <p:nvPr/>
        </p:nvPicPr>
        <p:blipFill rotWithShape="1">
          <a:blip r:embed="rId4">
            <a:alphaModFix/>
          </a:blip>
          <a:srcRect b="0" l="0" r="0" t="0"/>
          <a:stretch/>
        </p:blipFill>
        <p:spPr>
          <a:xfrm>
            <a:off x="6238875" y="2258615"/>
            <a:ext cx="5181600" cy="3216919"/>
          </a:xfrm>
          <a:prstGeom prst="rect">
            <a:avLst/>
          </a:prstGeom>
          <a:noFill/>
          <a:ln>
            <a:noFill/>
          </a:ln>
        </p:spPr>
      </p:pic>
      <p:sp>
        <p:nvSpPr>
          <p:cNvPr id="99" name="Google Shape;99;p14"/>
          <p:cNvSpPr txBox="1"/>
          <p:nvPr/>
        </p:nvSpPr>
        <p:spPr>
          <a:xfrm>
            <a:off x="1457325" y="2601515"/>
            <a:ext cx="4360500" cy="333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F3F4F6"/>
                </a:solidFill>
                <a:latin typeface="Poppins"/>
                <a:ea typeface="Poppins"/>
                <a:cs typeface="Poppins"/>
                <a:sym typeface="Poppins"/>
              </a:rPr>
              <a:t>The Data Landscape</a:t>
            </a:r>
            <a:endParaRPr/>
          </a:p>
        </p:txBody>
      </p:sp>
      <p:sp>
        <p:nvSpPr>
          <p:cNvPr id="100" name="Google Shape;100;p14"/>
          <p:cNvSpPr txBox="1"/>
          <p:nvPr/>
        </p:nvSpPr>
        <p:spPr>
          <a:xfrm>
            <a:off x="1114425" y="3106340"/>
            <a:ext cx="4495800" cy="19734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9CA3AF"/>
                </a:solidFill>
                <a:latin typeface="Urbanist"/>
                <a:ea typeface="Urbanist"/>
                <a:cs typeface="Urbanist"/>
                <a:sym typeface="Urbanist"/>
              </a:rPr>
              <a:t>E-business environments generate vast volumes of chaotic transaction and financial stream logs in real time.</a:t>
            </a:r>
            <a:endParaRPr b="0" i="0" sz="1425" u="none" cap="none" strike="noStrike">
              <a:solidFill>
                <a:srgbClr val="9CA3AF"/>
              </a:solidFill>
              <a:latin typeface="Urbanist"/>
              <a:ea typeface="Urbanist"/>
              <a:cs typeface="Urbanist"/>
              <a:sym typeface="Urbanist"/>
            </a:endParaRPr>
          </a:p>
          <a:p>
            <a:pPr indent="0" lvl="0" marL="0" rtl="0" algn="l">
              <a:lnSpc>
                <a:spcPct val="159929"/>
              </a:lnSpc>
              <a:spcBef>
                <a:spcPts val="0"/>
              </a:spcBef>
              <a:spcAft>
                <a:spcPts val="0"/>
              </a:spcAft>
              <a:buClr>
                <a:schemeClr val="dk1"/>
              </a:buClr>
              <a:buFont typeface="Arial"/>
              <a:buNone/>
            </a:pPr>
            <a:r>
              <a:rPr lang="en-US" sz="1425">
                <a:solidFill>
                  <a:srgbClr val="10B981"/>
                </a:solidFill>
                <a:latin typeface="Urbanist SemiBold"/>
                <a:ea typeface="Urbanist SemiBold"/>
                <a:cs typeface="Urbanist SemiBold"/>
                <a:sym typeface="Urbanist SemiBold"/>
              </a:rPr>
              <a:t>Traditional limits:</a:t>
            </a:r>
            <a:r>
              <a:rPr lang="en-US" sz="1425">
                <a:solidFill>
                  <a:srgbClr val="9CA3AF"/>
                </a:solidFill>
                <a:latin typeface="Urbanist"/>
                <a:ea typeface="Urbanist"/>
                <a:cs typeface="Urbanist"/>
                <a:sym typeface="Urbanist"/>
              </a:rPr>
              <a:t> Classical statistical approaches fail to process high-volatility scenarios, non-linear relationships, and structural shifts typical of modern digital assets.</a:t>
            </a:r>
            <a:endParaRPr>
              <a:solidFill>
                <a:schemeClr val="dk1"/>
              </a:solidFill>
            </a:endParaRPr>
          </a:p>
          <a:p>
            <a:pPr indent="0" lvl="0" marL="0" marR="0" rtl="0" algn="l">
              <a:lnSpc>
                <a:spcPct val="159929"/>
              </a:lnSpc>
              <a:spcBef>
                <a:spcPts val="0"/>
              </a:spcBef>
              <a:spcAft>
                <a:spcPts val="0"/>
              </a:spcAft>
              <a:buNone/>
            </a:pPr>
            <a:r>
              <a:t/>
            </a:r>
            <a:endParaRPr sz="1425">
              <a:solidFill>
                <a:srgbClr val="9CA3AF"/>
              </a:solidFill>
              <a:latin typeface="Urbanist"/>
              <a:ea typeface="Urbanist"/>
              <a:cs typeface="Urbanist"/>
              <a:sym typeface="Urbanist"/>
            </a:endParaRPr>
          </a:p>
        </p:txBody>
      </p:sp>
      <p:sp>
        <p:nvSpPr>
          <p:cNvPr id="101" name="Google Shape;101;p14"/>
          <p:cNvSpPr txBox="1"/>
          <p:nvPr/>
        </p:nvSpPr>
        <p:spPr>
          <a:xfrm>
            <a:off x="6924675" y="2601515"/>
            <a:ext cx="4360500" cy="333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F3F4F6"/>
                </a:solidFill>
                <a:latin typeface="Poppins"/>
                <a:ea typeface="Poppins"/>
                <a:cs typeface="Poppins"/>
                <a:sym typeface="Poppins"/>
              </a:rPr>
              <a:t>Deep Learning Power</a:t>
            </a:r>
            <a:endParaRPr/>
          </a:p>
        </p:txBody>
      </p:sp>
      <p:sp>
        <p:nvSpPr>
          <p:cNvPr id="102" name="Google Shape;102;p14"/>
          <p:cNvSpPr txBox="1"/>
          <p:nvPr/>
        </p:nvSpPr>
        <p:spPr>
          <a:xfrm>
            <a:off x="6581775" y="3106340"/>
            <a:ext cx="4495800" cy="23241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9CA3AF"/>
                </a:solidFill>
                <a:latin typeface="Urbanist"/>
                <a:ea typeface="Urbanist"/>
                <a:cs typeface="Urbanist"/>
                <a:sym typeface="Urbanist"/>
              </a:rPr>
              <a:t>Recurrent Neural Networks (RNNs) are designed specifically to process sequential data by remembering past states. </a:t>
            </a:r>
            <a:endParaRPr b="0" i="0" sz="1425" u="none" cap="none" strike="noStrike">
              <a:solidFill>
                <a:srgbClr val="9CA3AF"/>
              </a:solidFill>
              <a:latin typeface="Urbanist"/>
              <a:ea typeface="Urbanist"/>
              <a:cs typeface="Urbanist"/>
              <a:sym typeface="Urbanist"/>
            </a:endParaRPr>
          </a:p>
          <a:p>
            <a:pPr indent="0" lvl="0" marL="0" rtl="0" algn="l">
              <a:lnSpc>
                <a:spcPct val="159929"/>
              </a:lnSpc>
              <a:spcBef>
                <a:spcPts val="0"/>
              </a:spcBef>
              <a:spcAft>
                <a:spcPts val="0"/>
              </a:spcAft>
              <a:buNone/>
            </a:pPr>
            <a:r>
              <a:rPr lang="en-US" sz="1425">
                <a:solidFill>
                  <a:srgbClr val="10B981"/>
                </a:solidFill>
                <a:latin typeface="Urbanist SemiBold"/>
                <a:ea typeface="Urbanist SemiBold"/>
                <a:cs typeface="Urbanist SemiBold"/>
                <a:sym typeface="Urbanist SemiBold"/>
              </a:rPr>
              <a:t>Research Purpose:</a:t>
            </a:r>
            <a:r>
              <a:rPr lang="en-US" sz="1425">
                <a:solidFill>
                  <a:srgbClr val="9CA3AF"/>
                </a:solidFill>
                <a:latin typeface="Urbanist"/>
                <a:ea typeface="Urbanist"/>
                <a:cs typeface="Urbanist"/>
                <a:sym typeface="Urbanist"/>
              </a:rPr>
              <a:t> Building an end-to-end parallel system to train, optimize, and blindly test </a:t>
            </a:r>
            <a:r>
              <a:rPr lang="en-US" sz="1425">
                <a:solidFill>
                  <a:srgbClr val="10B981"/>
                </a:solidFill>
                <a:latin typeface="Urbanist SemiBold"/>
                <a:ea typeface="Urbanist SemiBold"/>
                <a:cs typeface="Urbanist SemiBold"/>
                <a:sym typeface="Urbanist SemiBold"/>
              </a:rPr>
              <a:t>LSTM</a:t>
            </a:r>
            <a:r>
              <a:rPr lang="en-US" sz="1425">
                <a:solidFill>
                  <a:srgbClr val="9CA3AF"/>
                </a:solidFill>
                <a:latin typeface="Urbanist"/>
                <a:ea typeface="Urbanist"/>
                <a:cs typeface="Urbanist"/>
                <a:sym typeface="Urbanist"/>
              </a:rPr>
              <a:t> and </a:t>
            </a:r>
            <a:r>
              <a:rPr lang="en-US" sz="1425">
                <a:solidFill>
                  <a:srgbClr val="10B981"/>
                </a:solidFill>
                <a:latin typeface="Urbanist SemiBold"/>
                <a:ea typeface="Urbanist SemiBold"/>
                <a:cs typeface="Urbanist SemiBold"/>
                <a:sym typeface="Urbanist SemiBold"/>
              </a:rPr>
              <a:t>GRU</a:t>
            </a:r>
            <a:r>
              <a:rPr lang="en-US" sz="1425">
                <a:solidFill>
                  <a:srgbClr val="9CA3AF"/>
                </a:solidFill>
                <a:latin typeface="Urbanist"/>
                <a:ea typeface="Urbanist"/>
                <a:cs typeface="Urbanist"/>
                <a:sym typeface="Urbanist"/>
              </a:rPr>
              <a:t> models to verify their predictive capability.</a:t>
            </a:r>
            <a:endParaRPr>
              <a:solidFill>
                <a:schemeClr val="dk1"/>
              </a:solidFill>
            </a:endParaRPr>
          </a:p>
          <a:p>
            <a:pPr indent="0" lvl="0" marL="0" marR="0" rtl="0" algn="l">
              <a:lnSpc>
                <a:spcPct val="159929"/>
              </a:lnSpc>
              <a:spcBef>
                <a:spcPts val="0"/>
              </a:spcBef>
              <a:spcAft>
                <a:spcPts val="0"/>
              </a:spcAft>
              <a:buNone/>
            </a:pPr>
            <a:r>
              <a:t/>
            </a:r>
            <a:endParaRPr sz="1425">
              <a:solidFill>
                <a:srgbClr val="9CA3AF"/>
              </a:solidFill>
              <a:latin typeface="Urbanist"/>
              <a:ea typeface="Urbanist"/>
              <a:cs typeface="Urbanist"/>
              <a:sym typeface="Urbanist"/>
            </a:endParaRPr>
          </a:p>
        </p:txBody>
      </p:sp>
      <p:pic>
        <p:nvPicPr>
          <p:cNvPr descr="image.png" id="103" name="Google Shape;103;p14"/>
          <p:cNvPicPr preferRelativeResize="0"/>
          <p:nvPr/>
        </p:nvPicPr>
        <p:blipFill rotWithShape="1">
          <a:blip r:embed="rId5">
            <a:alphaModFix/>
          </a:blip>
          <a:srcRect b="0" l="0" r="0" t="0"/>
          <a:stretch/>
        </p:blipFill>
        <p:spPr>
          <a:xfrm>
            <a:off x="1114425" y="2653903"/>
            <a:ext cx="228600" cy="228600"/>
          </a:xfrm>
          <a:prstGeom prst="rect">
            <a:avLst/>
          </a:prstGeom>
          <a:noFill/>
          <a:ln>
            <a:noFill/>
          </a:ln>
        </p:spPr>
      </p:pic>
      <p:pic>
        <p:nvPicPr>
          <p:cNvPr descr="image.png" id="104" name="Google Shape;104;p14"/>
          <p:cNvPicPr preferRelativeResize="0"/>
          <p:nvPr/>
        </p:nvPicPr>
        <p:blipFill rotWithShape="1">
          <a:blip r:embed="rId6">
            <a:alphaModFix/>
          </a:blip>
          <a:srcRect b="0" l="0" r="0" t="0"/>
          <a:stretch/>
        </p:blipFill>
        <p:spPr>
          <a:xfrm>
            <a:off x="6581775" y="2653903"/>
            <a:ext cx="228600" cy="228600"/>
          </a:xfrm>
          <a:prstGeom prst="rect">
            <a:avLst/>
          </a:prstGeom>
          <a:noFill/>
          <a:ln>
            <a:noFill/>
          </a:ln>
        </p:spPr>
      </p:pic>
      <p:sp>
        <p:nvSpPr>
          <p:cNvPr id="105" name="Google Shape;105;p14"/>
          <p:cNvSpPr txBox="1"/>
          <p:nvPr/>
        </p:nvSpPr>
        <p:spPr>
          <a:xfrm>
            <a:off x="962025" y="581025"/>
            <a:ext cx="10981500" cy="54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3F4F6"/>
                </a:solidFill>
                <a:latin typeface="Poppins"/>
                <a:ea typeface="Poppins"/>
                <a:cs typeface="Poppins"/>
                <a:sym typeface="Poppins"/>
              </a:rPr>
              <a:t>Predictive Intelligence in E-Business</a:t>
            </a:r>
            <a:endParaRPr/>
          </a:p>
        </p:txBody>
      </p:sp>
      <p:sp>
        <p:nvSpPr>
          <p:cNvPr id="106" name="Google Shape;106;p14"/>
          <p:cNvSpPr/>
          <p:nvPr/>
        </p:nvSpPr>
        <p:spPr>
          <a:xfrm>
            <a:off x="771525" y="581025"/>
            <a:ext cx="57300" cy="543000"/>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9"/>
        </a:solidFill>
      </p:bgPr>
    </p:bg>
    <p:spTree>
      <p:nvGrpSpPr>
        <p:cNvPr id="110" name="Shape 110"/>
        <p:cNvGrpSpPr/>
        <p:nvPr/>
      </p:nvGrpSpPr>
      <p:grpSpPr>
        <a:xfrm>
          <a:off x="0" y="0"/>
          <a:ext cx="0" cy="0"/>
          <a:chOff x="0" y="0"/>
          <a:chExt cx="0" cy="0"/>
        </a:xfrm>
      </p:grpSpPr>
      <p:pic>
        <p:nvPicPr>
          <p:cNvPr descr="image.png" id="111" name="Google Shape;111;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2" name="Google Shape;112;p15"/>
          <p:cNvPicPr preferRelativeResize="0"/>
          <p:nvPr/>
        </p:nvPicPr>
        <p:blipFill rotWithShape="1">
          <a:blip r:embed="rId4">
            <a:alphaModFix/>
          </a:blip>
          <a:srcRect b="0" l="0" r="0" t="0"/>
          <a:stretch/>
        </p:blipFill>
        <p:spPr>
          <a:xfrm>
            <a:off x="771525" y="2403425"/>
            <a:ext cx="5181600" cy="2927449"/>
          </a:xfrm>
          <a:prstGeom prst="rect">
            <a:avLst/>
          </a:prstGeom>
          <a:noFill/>
          <a:ln>
            <a:noFill/>
          </a:ln>
        </p:spPr>
      </p:pic>
      <p:pic>
        <p:nvPicPr>
          <p:cNvPr descr="image.png" id="113" name="Google Shape;113;p15"/>
          <p:cNvPicPr preferRelativeResize="0"/>
          <p:nvPr/>
        </p:nvPicPr>
        <p:blipFill rotWithShape="1">
          <a:blip r:embed="rId4">
            <a:alphaModFix/>
          </a:blip>
          <a:srcRect b="0" l="0" r="0" t="0"/>
          <a:stretch/>
        </p:blipFill>
        <p:spPr>
          <a:xfrm>
            <a:off x="6238875" y="2403425"/>
            <a:ext cx="5181600" cy="2927449"/>
          </a:xfrm>
          <a:prstGeom prst="rect">
            <a:avLst/>
          </a:prstGeom>
          <a:noFill/>
          <a:ln>
            <a:noFill/>
          </a:ln>
        </p:spPr>
      </p:pic>
      <p:sp>
        <p:nvSpPr>
          <p:cNvPr id="114" name="Google Shape;114;p15"/>
          <p:cNvSpPr txBox="1"/>
          <p:nvPr/>
        </p:nvSpPr>
        <p:spPr>
          <a:xfrm>
            <a:off x="1428750" y="2746325"/>
            <a:ext cx="4390548" cy="3333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F3F4F6"/>
                </a:solidFill>
                <a:latin typeface="Poppins"/>
                <a:ea typeface="Poppins"/>
                <a:cs typeface="Poppins"/>
                <a:sym typeface="Poppins"/>
              </a:rPr>
              <a:t>ARIMA (Linear Baseline)</a:t>
            </a:r>
            <a:endParaRPr/>
          </a:p>
        </p:txBody>
      </p:sp>
      <p:sp>
        <p:nvSpPr>
          <p:cNvPr id="115" name="Google Shape;115;p15"/>
          <p:cNvSpPr txBox="1"/>
          <p:nvPr/>
        </p:nvSpPr>
        <p:spPr>
          <a:xfrm>
            <a:off x="1114425" y="3251150"/>
            <a:ext cx="4495800" cy="19734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9CA3AF"/>
                </a:solidFill>
                <a:latin typeface="Urbanist"/>
                <a:ea typeface="Urbanist"/>
                <a:cs typeface="Urbanist"/>
                <a:sym typeface="Urbanist"/>
              </a:rPr>
              <a:t>Like drawing a straight line through past dots on a graph and hoping the line continues the same way forever. </a:t>
            </a:r>
            <a:r>
              <a:rPr lang="en-US" sz="1425">
                <a:solidFill>
                  <a:srgbClr val="9CA3AF"/>
                </a:solidFill>
                <a:latin typeface="Urbanist"/>
                <a:ea typeface="Urbanist"/>
                <a:cs typeface="Urbanist"/>
                <a:sym typeface="Urbanist"/>
              </a:rPr>
              <a:t>ARIMA focuses on short-term local fluctuations but gets completely lost during sudden macro-regime shifts or hyper-growth cycles.</a:t>
            </a:r>
            <a:endParaRPr>
              <a:solidFill>
                <a:schemeClr val="dk1"/>
              </a:solidFill>
            </a:endParaRPr>
          </a:p>
          <a:p>
            <a:pPr indent="0" lvl="0" marL="0" marR="0" rtl="0" algn="l">
              <a:lnSpc>
                <a:spcPct val="159929"/>
              </a:lnSpc>
              <a:spcBef>
                <a:spcPts val="0"/>
              </a:spcBef>
              <a:spcAft>
                <a:spcPts val="0"/>
              </a:spcAft>
              <a:buNone/>
            </a:pPr>
            <a:r>
              <a:t/>
            </a:r>
            <a:endParaRPr sz="1425">
              <a:solidFill>
                <a:srgbClr val="9CA3AF"/>
              </a:solidFill>
              <a:latin typeface="Urbanist"/>
              <a:ea typeface="Urbanist"/>
              <a:cs typeface="Urbanist"/>
              <a:sym typeface="Urbanist"/>
            </a:endParaRPr>
          </a:p>
        </p:txBody>
      </p:sp>
      <p:sp>
        <p:nvSpPr>
          <p:cNvPr id="116" name="Google Shape;116;p15"/>
          <p:cNvSpPr txBox="1"/>
          <p:nvPr/>
        </p:nvSpPr>
        <p:spPr>
          <a:xfrm>
            <a:off x="1114425" y="4119562"/>
            <a:ext cx="4495800" cy="2154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t/>
            </a:r>
            <a:endParaRPr/>
          </a:p>
        </p:txBody>
      </p:sp>
      <p:sp>
        <p:nvSpPr>
          <p:cNvPr id="117" name="Google Shape;117;p15"/>
          <p:cNvSpPr txBox="1"/>
          <p:nvPr/>
        </p:nvSpPr>
        <p:spPr>
          <a:xfrm>
            <a:off x="6981825" y="2746325"/>
            <a:ext cx="4300537" cy="3333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F3F4F6"/>
                </a:solidFill>
                <a:latin typeface="Poppins"/>
                <a:ea typeface="Poppins"/>
                <a:cs typeface="Poppins"/>
                <a:sym typeface="Poppins"/>
              </a:rPr>
              <a:t>Random Walk (The Drunk Walk)</a:t>
            </a:r>
            <a:endParaRPr/>
          </a:p>
        </p:txBody>
      </p:sp>
      <p:sp>
        <p:nvSpPr>
          <p:cNvPr id="118" name="Google Shape;118;p15"/>
          <p:cNvSpPr txBox="1"/>
          <p:nvPr/>
        </p:nvSpPr>
        <p:spPr>
          <a:xfrm>
            <a:off x="6581775" y="3251150"/>
            <a:ext cx="4495800" cy="19734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9CA3AF"/>
                </a:solidFill>
                <a:latin typeface="Urbanist"/>
                <a:ea typeface="Urbanist"/>
                <a:cs typeface="Urbanist"/>
                <a:sym typeface="Urbanist"/>
              </a:rPr>
              <a:t>Like predicting the path of a highly intoxicated person on the street—every single step is random and independent of the last. </a:t>
            </a:r>
            <a:r>
              <a:rPr lang="en-US" sz="1425">
                <a:solidFill>
                  <a:srgbClr val="9CA3AF"/>
                </a:solidFill>
                <a:latin typeface="Urbanist"/>
                <a:ea typeface="Urbanist"/>
                <a:cs typeface="Urbanist"/>
                <a:sym typeface="Urbanist"/>
              </a:rPr>
              <a:t>This theory argues that prices react instantly to random news, meaning past prices cannot help predict tomorrow's values.</a:t>
            </a:r>
            <a:endParaRPr>
              <a:solidFill>
                <a:schemeClr val="dk1"/>
              </a:solidFill>
            </a:endParaRPr>
          </a:p>
          <a:p>
            <a:pPr indent="0" lvl="0" marL="0" marR="0" rtl="0" algn="l">
              <a:lnSpc>
                <a:spcPct val="159929"/>
              </a:lnSpc>
              <a:spcBef>
                <a:spcPts val="0"/>
              </a:spcBef>
              <a:spcAft>
                <a:spcPts val="0"/>
              </a:spcAft>
              <a:buNone/>
            </a:pPr>
            <a:r>
              <a:t/>
            </a:r>
            <a:endParaRPr sz="1425">
              <a:solidFill>
                <a:srgbClr val="9CA3AF"/>
              </a:solidFill>
              <a:latin typeface="Urbanist"/>
              <a:ea typeface="Urbanist"/>
              <a:cs typeface="Urbanist"/>
              <a:sym typeface="Urbanist"/>
            </a:endParaRPr>
          </a:p>
        </p:txBody>
      </p:sp>
      <p:pic>
        <p:nvPicPr>
          <p:cNvPr descr="image.png" id="119" name="Google Shape;119;p15"/>
          <p:cNvPicPr preferRelativeResize="0"/>
          <p:nvPr/>
        </p:nvPicPr>
        <p:blipFill rotWithShape="1">
          <a:blip r:embed="rId5">
            <a:alphaModFix/>
          </a:blip>
          <a:srcRect b="0" l="0" r="0" t="0"/>
          <a:stretch/>
        </p:blipFill>
        <p:spPr>
          <a:xfrm>
            <a:off x="1114425" y="2798712"/>
            <a:ext cx="200025" cy="228600"/>
          </a:xfrm>
          <a:prstGeom prst="rect">
            <a:avLst/>
          </a:prstGeom>
          <a:noFill/>
          <a:ln>
            <a:noFill/>
          </a:ln>
        </p:spPr>
      </p:pic>
      <p:pic>
        <p:nvPicPr>
          <p:cNvPr descr="image.png" id="120" name="Google Shape;120;p15"/>
          <p:cNvPicPr preferRelativeResize="0"/>
          <p:nvPr/>
        </p:nvPicPr>
        <p:blipFill rotWithShape="1">
          <a:blip r:embed="rId6">
            <a:alphaModFix/>
          </a:blip>
          <a:srcRect b="0" l="0" r="0" t="0"/>
          <a:stretch/>
        </p:blipFill>
        <p:spPr>
          <a:xfrm>
            <a:off x="6581775" y="2798712"/>
            <a:ext cx="285750" cy="228600"/>
          </a:xfrm>
          <a:prstGeom prst="rect">
            <a:avLst/>
          </a:prstGeom>
          <a:noFill/>
          <a:ln>
            <a:noFill/>
          </a:ln>
        </p:spPr>
      </p:pic>
      <p:sp>
        <p:nvSpPr>
          <p:cNvPr id="121" name="Google Shape;121;p15"/>
          <p:cNvSpPr txBox="1"/>
          <p:nvPr/>
        </p:nvSpPr>
        <p:spPr>
          <a:xfrm>
            <a:off x="962025" y="581025"/>
            <a:ext cx="10981372" cy="542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3F4F6"/>
                </a:solidFill>
                <a:latin typeface="Poppins"/>
                <a:ea typeface="Poppins"/>
                <a:cs typeface="Poppins"/>
                <a:sym typeface="Poppins"/>
              </a:rPr>
              <a:t>Linear Models vs. Random Walk</a:t>
            </a:r>
            <a:endParaRPr/>
          </a:p>
        </p:txBody>
      </p:sp>
      <p:sp>
        <p:nvSpPr>
          <p:cNvPr id="122" name="Google Shape;122;p15"/>
          <p:cNvSpPr/>
          <p:nvPr/>
        </p:nvSpPr>
        <p:spPr>
          <a:xfrm>
            <a:off x="771525" y="581025"/>
            <a:ext cx="57150" cy="542925"/>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9"/>
        </a:solidFill>
      </p:bgPr>
    </p:bg>
    <p:spTree>
      <p:nvGrpSpPr>
        <p:cNvPr id="126" name="Shape 126"/>
        <p:cNvGrpSpPr/>
        <p:nvPr/>
      </p:nvGrpSpPr>
      <p:grpSpPr>
        <a:xfrm>
          <a:off x="0" y="0"/>
          <a:ext cx="0" cy="0"/>
          <a:chOff x="0" y="0"/>
          <a:chExt cx="0" cy="0"/>
        </a:xfrm>
      </p:grpSpPr>
      <p:pic>
        <p:nvPicPr>
          <p:cNvPr descr="image.png" id="127" name="Google Shape;127;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8" name="Google Shape;128;p16"/>
          <p:cNvSpPr txBox="1"/>
          <p:nvPr/>
        </p:nvSpPr>
        <p:spPr>
          <a:xfrm>
            <a:off x="1104900" y="2263209"/>
            <a:ext cx="5287800" cy="3207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10B981"/>
                </a:solidFill>
                <a:latin typeface="Urbanist SemiBold"/>
                <a:ea typeface="Urbanist SemiBold"/>
                <a:cs typeface="Urbanist SemiBold"/>
                <a:sym typeface="Urbanist SemiBold"/>
              </a:rPr>
              <a:t>The EMH Theory:</a:t>
            </a:r>
            <a:r>
              <a:rPr b="0" i="0" lang="en-US" sz="1350" u="none" cap="none" strike="noStrike">
                <a:solidFill>
                  <a:srgbClr val="9CA3AF"/>
                </a:solidFill>
                <a:latin typeface="Urbanist"/>
                <a:ea typeface="Urbanist"/>
                <a:cs typeface="Urbanist"/>
                <a:sym typeface="Urbanist"/>
              </a:rPr>
              <a:t> Claims markets are perfectly efficient. All information is priced in, making consistent above-average profits highly unlikely. </a:t>
            </a:r>
            <a:endParaRPr b="0" i="0" sz="1350" u="none" cap="none" strike="noStrike">
              <a:solidFill>
                <a:srgbClr val="9CA3AF"/>
              </a:solidFill>
              <a:latin typeface="Urbanist"/>
              <a:ea typeface="Urbanist"/>
              <a:cs typeface="Urbanist"/>
              <a:sym typeface="Urbanist"/>
            </a:endParaRPr>
          </a:p>
          <a:p>
            <a:pPr indent="0" lvl="0" marL="0" marR="0" rtl="0" algn="l">
              <a:lnSpc>
                <a:spcPct val="160000"/>
              </a:lnSpc>
              <a:spcBef>
                <a:spcPts val="0"/>
              </a:spcBef>
              <a:spcAft>
                <a:spcPts val="0"/>
              </a:spcAft>
              <a:buNone/>
            </a:pPr>
            <a:r>
              <a:rPr lang="en-US" sz="1350">
                <a:solidFill>
                  <a:srgbClr val="10B981"/>
                </a:solidFill>
                <a:latin typeface="Urbanist SemiBold"/>
                <a:ea typeface="Urbanist SemiBold"/>
                <a:cs typeface="Urbanist SemiBold"/>
                <a:sym typeface="Urbanist SemiBold"/>
              </a:rPr>
              <a:t>Micro-Structural Windows:</a:t>
            </a:r>
            <a:r>
              <a:rPr lang="en-US" sz="1350">
                <a:solidFill>
                  <a:srgbClr val="9CA3AF"/>
                </a:solidFill>
                <a:latin typeface="Urbanist"/>
                <a:ea typeface="Urbanist"/>
                <a:cs typeface="Urbanist"/>
                <a:sym typeface="Urbanist"/>
              </a:rPr>
              <a:t> Digital trading desk loops and modern algorithm setups create temporary patterns (inefficiencies) that recur across trading hours.</a:t>
            </a:r>
            <a:endParaRPr>
              <a:solidFill>
                <a:schemeClr val="dk1"/>
              </a:solidFill>
            </a:endParaRPr>
          </a:p>
          <a:p>
            <a:pPr indent="0" lvl="0" marL="0" rtl="0" algn="l">
              <a:lnSpc>
                <a:spcPct val="160000"/>
              </a:lnSpc>
              <a:spcBef>
                <a:spcPts val="0"/>
              </a:spcBef>
              <a:spcAft>
                <a:spcPts val="0"/>
              </a:spcAft>
              <a:buClr>
                <a:schemeClr val="dk1"/>
              </a:buClr>
              <a:buFont typeface="Arial"/>
              <a:buNone/>
            </a:pPr>
            <a:r>
              <a:rPr lang="en-US" sz="1350">
                <a:solidFill>
                  <a:srgbClr val="10B981"/>
                </a:solidFill>
                <a:latin typeface="Urbanist SemiBold"/>
                <a:ea typeface="Urbanist SemiBold"/>
                <a:cs typeface="Urbanist SemiBold"/>
                <a:sym typeface="Urbanist SemiBold"/>
              </a:rPr>
              <a:t>System Objective:</a:t>
            </a:r>
            <a:r>
              <a:rPr lang="en-US" sz="1350">
                <a:solidFill>
                  <a:srgbClr val="9CA3AF"/>
                </a:solidFill>
                <a:latin typeface="Urbanist"/>
                <a:ea typeface="Urbanist"/>
                <a:cs typeface="Urbanist"/>
                <a:sym typeface="Urbanist"/>
              </a:rPr>
              <a:t> Exploring these micro-patterns using sequential learning structures trained directly on robust volume-weighted metrics.</a:t>
            </a:r>
            <a:endParaRPr>
              <a:solidFill>
                <a:schemeClr val="dk1"/>
              </a:solidFill>
            </a:endParaRPr>
          </a:p>
          <a:p>
            <a:pPr indent="0" lvl="0" marL="0" marR="0" rtl="0" algn="l">
              <a:lnSpc>
                <a:spcPct val="160000"/>
              </a:lnSpc>
              <a:spcBef>
                <a:spcPts val="0"/>
              </a:spcBef>
              <a:spcAft>
                <a:spcPts val="0"/>
              </a:spcAft>
              <a:buNone/>
            </a:pPr>
            <a:r>
              <a:t/>
            </a:r>
            <a:endParaRPr>
              <a:solidFill>
                <a:schemeClr val="dk1"/>
              </a:solidFill>
            </a:endParaRPr>
          </a:p>
        </p:txBody>
      </p:sp>
      <p:sp>
        <p:nvSpPr>
          <p:cNvPr id="129" name="Google Shape;129;p16"/>
          <p:cNvSpPr txBox="1"/>
          <p:nvPr/>
        </p:nvSpPr>
        <p:spPr>
          <a:xfrm>
            <a:off x="962025" y="581025"/>
            <a:ext cx="10981372" cy="542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3F4F6"/>
                </a:solidFill>
                <a:latin typeface="Poppins"/>
                <a:ea typeface="Poppins"/>
                <a:cs typeface="Poppins"/>
                <a:sym typeface="Poppins"/>
              </a:rPr>
              <a:t>Efficient Market Hypothesis (EMH)</a:t>
            </a:r>
            <a:endParaRPr/>
          </a:p>
        </p:txBody>
      </p:sp>
      <p:sp>
        <p:nvSpPr>
          <p:cNvPr id="130" name="Google Shape;130;p16"/>
          <p:cNvSpPr/>
          <p:nvPr/>
        </p:nvSpPr>
        <p:spPr>
          <a:xfrm>
            <a:off x="771525" y="581025"/>
            <a:ext cx="57150" cy="542925"/>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31" name="Google Shape;131;p16"/>
          <p:cNvPicPr preferRelativeResize="0"/>
          <p:nvPr/>
        </p:nvPicPr>
        <p:blipFill>
          <a:blip r:embed="rId4">
            <a:alphaModFix/>
          </a:blip>
          <a:stretch>
            <a:fillRect/>
          </a:stretch>
        </p:blipFill>
        <p:spPr>
          <a:xfrm>
            <a:off x="6757925" y="2004000"/>
            <a:ext cx="4972151" cy="33147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9"/>
        </a:solidFill>
      </p:bgPr>
    </p:bg>
    <p:spTree>
      <p:nvGrpSpPr>
        <p:cNvPr id="135" name="Shape 135"/>
        <p:cNvGrpSpPr/>
        <p:nvPr/>
      </p:nvGrpSpPr>
      <p:grpSpPr>
        <a:xfrm>
          <a:off x="0" y="0"/>
          <a:ext cx="0" cy="0"/>
          <a:chOff x="0" y="0"/>
          <a:chExt cx="0" cy="0"/>
        </a:xfrm>
      </p:grpSpPr>
      <p:pic>
        <p:nvPicPr>
          <p:cNvPr descr="image.png" id="136" name="Google Shape;136;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37" name="Google Shape;137;p17"/>
          <p:cNvPicPr preferRelativeResize="0"/>
          <p:nvPr/>
        </p:nvPicPr>
        <p:blipFill rotWithShape="1">
          <a:blip r:embed="rId4">
            <a:alphaModFix/>
          </a:blip>
          <a:srcRect b="0" l="0" r="0" t="0"/>
          <a:stretch/>
        </p:blipFill>
        <p:spPr>
          <a:xfrm>
            <a:off x="771525" y="2403425"/>
            <a:ext cx="5181600" cy="2927449"/>
          </a:xfrm>
          <a:prstGeom prst="rect">
            <a:avLst/>
          </a:prstGeom>
          <a:noFill/>
          <a:ln>
            <a:noFill/>
          </a:ln>
        </p:spPr>
      </p:pic>
      <p:pic>
        <p:nvPicPr>
          <p:cNvPr descr="image.png" id="138" name="Google Shape;138;p17"/>
          <p:cNvPicPr preferRelativeResize="0"/>
          <p:nvPr/>
        </p:nvPicPr>
        <p:blipFill rotWithShape="1">
          <a:blip r:embed="rId4">
            <a:alphaModFix/>
          </a:blip>
          <a:srcRect b="0" l="0" r="0" t="0"/>
          <a:stretch/>
        </p:blipFill>
        <p:spPr>
          <a:xfrm>
            <a:off x="6238875" y="2403425"/>
            <a:ext cx="5181600" cy="2927449"/>
          </a:xfrm>
          <a:prstGeom prst="rect">
            <a:avLst/>
          </a:prstGeom>
          <a:noFill/>
          <a:ln>
            <a:noFill/>
          </a:ln>
        </p:spPr>
      </p:pic>
      <p:sp>
        <p:nvSpPr>
          <p:cNvPr id="139" name="Google Shape;139;p17"/>
          <p:cNvSpPr txBox="1"/>
          <p:nvPr/>
        </p:nvSpPr>
        <p:spPr>
          <a:xfrm>
            <a:off x="1400175" y="2746325"/>
            <a:ext cx="4420552" cy="3333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F3F4F6"/>
                </a:solidFill>
                <a:latin typeface="Poppins"/>
                <a:ea typeface="Poppins"/>
                <a:cs typeface="Poppins"/>
                <a:sym typeface="Poppins"/>
              </a:rPr>
              <a:t>VWAP (Volume Weighted Price)</a:t>
            </a:r>
            <a:endParaRPr/>
          </a:p>
        </p:txBody>
      </p:sp>
      <p:sp>
        <p:nvSpPr>
          <p:cNvPr id="140" name="Google Shape;140;p17"/>
          <p:cNvSpPr txBox="1"/>
          <p:nvPr/>
        </p:nvSpPr>
        <p:spPr>
          <a:xfrm>
            <a:off x="1114425" y="3251150"/>
            <a:ext cx="4495800" cy="19734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10B981"/>
                </a:solidFill>
                <a:latin typeface="Urbanist SemiBold"/>
                <a:ea typeface="Urbanist SemiBold"/>
                <a:cs typeface="Urbanist SemiBold"/>
                <a:sym typeface="Urbanist SemiBold"/>
              </a:rPr>
              <a:t>Simple Analogy:</a:t>
            </a:r>
            <a:r>
              <a:rPr b="0" i="0" lang="en-US" sz="1425" u="none" cap="none" strike="noStrike">
                <a:solidFill>
                  <a:srgbClr val="9CA3AF"/>
                </a:solidFill>
                <a:latin typeface="Urbanist"/>
                <a:ea typeface="Urbanist"/>
                <a:cs typeface="Urbanist"/>
                <a:sym typeface="Urbanist"/>
              </a:rPr>
              <a:t> Like school grading where final exam scores carry a higher weight than simple pop quizzes.</a:t>
            </a:r>
            <a:endParaRPr b="0" i="0" sz="1425" u="none" cap="none" strike="noStrike">
              <a:solidFill>
                <a:srgbClr val="9CA3AF"/>
              </a:solidFill>
              <a:latin typeface="Urbanist"/>
              <a:ea typeface="Urbanist"/>
              <a:cs typeface="Urbanist"/>
              <a:sym typeface="Urbanist"/>
            </a:endParaRPr>
          </a:p>
          <a:p>
            <a:pPr indent="0" lvl="0" marL="0" rtl="0" algn="l">
              <a:lnSpc>
                <a:spcPct val="159929"/>
              </a:lnSpc>
              <a:spcBef>
                <a:spcPts val="0"/>
              </a:spcBef>
              <a:spcAft>
                <a:spcPts val="0"/>
              </a:spcAft>
              <a:buClr>
                <a:schemeClr val="dk1"/>
              </a:buClr>
              <a:buFont typeface="Arial"/>
              <a:buNone/>
            </a:pPr>
            <a:r>
              <a:rPr lang="en-US" sz="1425">
                <a:solidFill>
                  <a:srgbClr val="9CA3AF"/>
                </a:solidFill>
                <a:latin typeface="Urbanist"/>
                <a:ea typeface="Urbanist"/>
                <a:cs typeface="Urbanist"/>
                <a:sym typeface="Urbanist"/>
              </a:rPr>
              <a:t>VWAP measures the average price but scales it by trade volume. This neutralizes speculative, a-volume end-of-day price manipulation.</a:t>
            </a:r>
            <a:endParaRPr>
              <a:solidFill>
                <a:schemeClr val="dk1"/>
              </a:solidFill>
            </a:endParaRPr>
          </a:p>
          <a:p>
            <a:pPr indent="0" lvl="0" marL="0" marR="0" rtl="0" algn="l">
              <a:lnSpc>
                <a:spcPct val="159929"/>
              </a:lnSpc>
              <a:spcBef>
                <a:spcPts val="0"/>
              </a:spcBef>
              <a:spcAft>
                <a:spcPts val="0"/>
              </a:spcAft>
              <a:buNone/>
            </a:pPr>
            <a:r>
              <a:t/>
            </a:r>
            <a:endParaRPr sz="1425">
              <a:solidFill>
                <a:srgbClr val="9CA3AF"/>
              </a:solidFill>
              <a:latin typeface="Urbanist"/>
              <a:ea typeface="Urbanist"/>
              <a:cs typeface="Urbanist"/>
              <a:sym typeface="Urbanist"/>
            </a:endParaRPr>
          </a:p>
        </p:txBody>
      </p:sp>
      <p:sp>
        <p:nvSpPr>
          <p:cNvPr id="141" name="Google Shape;141;p17"/>
          <p:cNvSpPr txBox="1"/>
          <p:nvPr/>
        </p:nvSpPr>
        <p:spPr>
          <a:xfrm>
            <a:off x="6896100" y="2746325"/>
            <a:ext cx="4390548" cy="3333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F3F4F6"/>
                </a:solidFill>
                <a:latin typeface="Poppins"/>
                <a:ea typeface="Poppins"/>
                <a:cs typeface="Poppins"/>
                <a:sym typeface="Poppins"/>
              </a:rPr>
              <a:t>The Pipeline Setup</a:t>
            </a:r>
            <a:endParaRPr/>
          </a:p>
        </p:txBody>
      </p:sp>
      <p:sp>
        <p:nvSpPr>
          <p:cNvPr id="142" name="Google Shape;142;p17"/>
          <p:cNvSpPr txBox="1"/>
          <p:nvPr/>
        </p:nvSpPr>
        <p:spPr>
          <a:xfrm>
            <a:off x="6581775" y="3251150"/>
            <a:ext cx="4495800" cy="23241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10B981"/>
                </a:solidFill>
                <a:latin typeface="Urbanist SemiBold"/>
                <a:ea typeface="Urbanist SemiBold"/>
                <a:cs typeface="Urbanist SemiBold"/>
                <a:sym typeface="Urbanist SemiBold"/>
              </a:rPr>
              <a:t>Inflow Layer:</a:t>
            </a:r>
            <a:r>
              <a:rPr b="0" i="0" lang="en-US" sz="1425" u="none" cap="none" strike="noStrike">
                <a:solidFill>
                  <a:srgbClr val="9CA3AF"/>
                </a:solidFill>
                <a:latin typeface="Urbanist"/>
                <a:ea typeface="Urbanist"/>
                <a:cs typeface="Urbanist"/>
                <a:sym typeface="Urbanist"/>
              </a:rPr>
              <a:t> Programmatically extracted 12 years of historical daily logs (2014-2026) directly from the Yahoo Finance API.</a:t>
            </a:r>
            <a:endParaRPr b="0" i="0" sz="1425" u="none" cap="none" strike="noStrike">
              <a:solidFill>
                <a:srgbClr val="9CA3AF"/>
              </a:solidFill>
              <a:latin typeface="Urbanist"/>
              <a:ea typeface="Urbanist"/>
              <a:cs typeface="Urbanist"/>
              <a:sym typeface="Urbanist"/>
            </a:endParaRPr>
          </a:p>
          <a:p>
            <a:pPr indent="0" lvl="0" marL="0" rtl="0" algn="l">
              <a:lnSpc>
                <a:spcPct val="159929"/>
              </a:lnSpc>
              <a:spcBef>
                <a:spcPts val="0"/>
              </a:spcBef>
              <a:spcAft>
                <a:spcPts val="0"/>
              </a:spcAft>
              <a:buClr>
                <a:schemeClr val="dk1"/>
              </a:buClr>
              <a:buFont typeface="Arial"/>
              <a:buNone/>
            </a:pPr>
            <a:r>
              <a:rPr lang="en-US" sz="1425">
                <a:solidFill>
                  <a:srgbClr val="10B981"/>
                </a:solidFill>
                <a:latin typeface="Urbanist SemiBold"/>
                <a:ea typeface="Urbanist SemiBold"/>
                <a:cs typeface="Urbanist SemiBold"/>
                <a:sym typeface="Urbanist SemiBold"/>
              </a:rPr>
              <a:t>Window Structuring:</a:t>
            </a:r>
            <a:r>
              <a:rPr lang="en-US" sz="1425">
                <a:solidFill>
                  <a:srgbClr val="9CA3AF"/>
                </a:solidFill>
                <a:latin typeface="Urbanist"/>
                <a:ea typeface="Urbanist"/>
                <a:cs typeface="Urbanist"/>
                <a:sym typeface="Urbanist"/>
              </a:rPr>
              <a:t> Re-segmented the sequential multi-feature arrays into 60-day sliding lookback windows to model market momentum.</a:t>
            </a:r>
            <a:endParaRPr>
              <a:solidFill>
                <a:schemeClr val="dk1"/>
              </a:solidFill>
            </a:endParaRPr>
          </a:p>
          <a:p>
            <a:pPr indent="0" lvl="0" marL="0" marR="0" rtl="0" algn="l">
              <a:lnSpc>
                <a:spcPct val="159929"/>
              </a:lnSpc>
              <a:spcBef>
                <a:spcPts val="0"/>
              </a:spcBef>
              <a:spcAft>
                <a:spcPts val="0"/>
              </a:spcAft>
              <a:buNone/>
            </a:pPr>
            <a:r>
              <a:t/>
            </a:r>
            <a:endParaRPr sz="1425">
              <a:solidFill>
                <a:srgbClr val="9CA3AF"/>
              </a:solidFill>
              <a:latin typeface="Urbanist"/>
              <a:ea typeface="Urbanist"/>
              <a:cs typeface="Urbanist"/>
              <a:sym typeface="Urbanist"/>
            </a:endParaRPr>
          </a:p>
        </p:txBody>
      </p:sp>
      <p:pic>
        <p:nvPicPr>
          <p:cNvPr descr="image.png" id="143" name="Google Shape;143;p17"/>
          <p:cNvPicPr preferRelativeResize="0"/>
          <p:nvPr/>
        </p:nvPicPr>
        <p:blipFill rotWithShape="1">
          <a:blip r:embed="rId5">
            <a:alphaModFix/>
          </a:blip>
          <a:srcRect b="0" l="0" r="0" t="0"/>
          <a:stretch/>
        </p:blipFill>
        <p:spPr>
          <a:xfrm>
            <a:off x="1114425" y="2798712"/>
            <a:ext cx="171450" cy="228600"/>
          </a:xfrm>
          <a:prstGeom prst="rect">
            <a:avLst/>
          </a:prstGeom>
          <a:noFill/>
          <a:ln>
            <a:noFill/>
          </a:ln>
        </p:spPr>
      </p:pic>
      <p:pic>
        <p:nvPicPr>
          <p:cNvPr descr="image.png" id="144" name="Google Shape;144;p17"/>
          <p:cNvPicPr preferRelativeResize="0"/>
          <p:nvPr/>
        </p:nvPicPr>
        <p:blipFill rotWithShape="1">
          <a:blip r:embed="rId6">
            <a:alphaModFix/>
          </a:blip>
          <a:srcRect b="0" l="0" r="0" t="0"/>
          <a:stretch/>
        </p:blipFill>
        <p:spPr>
          <a:xfrm>
            <a:off x="6581775" y="2798712"/>
            <a:ext cx="200025" cy="228600"/>
          </a:xfrm>
          <a:prstGeom prst="rect">
            <a:avLst/>
          </a:prstGeom>
          <a:noFill/>
          <a:ln>
            <a:noFill/>
          </a:ln>
        </p:spPr>
      </p:pic>
      <p:sp>
        <p:nvSpPr>
          <p:cNvPr id="145" name="Google Shape;145;p17"/>
          <p:cNvSpPr txBox="1"/>
          <p:nvPr/>
        </p:nvSpPr>
        <p:spPr>
          <a:xfrm>
            <a:off x="962025" y="581025"/>
            <a:ext cx="10981372" cy="542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3F4F6"/>
                </a:solidFill>
                <a:latin typeface="Poppins"/>
                <a:ea typeface="Poppins"/>
                <a:cs typeface="Poppins"/>
                <a:sym typeface="Poppins"/>
              </a:rPr>
              <a:t>Data Engineering &amp; VWAP Pipeline</a:t>
            </a:r>
            <a:endParaRPr/>
          </a:p>
        </p:txBody>
      </p:sp>
      <p:sp>
        <p:nvSpPr>
          <p:cNvPr id="146" name="Google Shape;146;p17"/>
          <p:cNvSpPr/>
          <p:nvPr/>
        </p:nvSpPr>
        <p:spPr>
          <a:xfrm>
            <a:off x="771525" y="581025"/>
            <a:ext cx="57150" cy="542925"/>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9"/>
        </a:solidFill>
      </p:bgPr>
    </p:bg>
    <p:spTree>
      <p:nvGrpSpPr>
        <p:cNvPr id="150" name="Shape 150"/>
        <p:cNvGrpSpPr/>
        <p:nvPr/>
      </p:nvGrpSpPr>
      <p:grpSpPr>
        <a:xfrm>
          <a:off x="0" y="0"/>
          <a:ext cx="0" cy="0"/>
          <a:chOff x="0" y="0"/>
          <a:chExt cx="0" cy="0"/>
        </a:xfrm>
      </p:grpSpPr>
      <p:pic>
        <p:nvPicPr>
          <p:cNvPr descr="image.png" id="151" name="Google Shape;151;p1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52" name="Google Shape;152;p18"/>
          <p:cNvSpPr txBox="1"/>
          <p:nvPr/>
        </p:nvSpPr>
        <p:spPr>
          <a:xfrm>
            <a:off x="7193275" y="2144775"/>
            <a:ext cx="4389000" cy="35991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10B981"/>
                </a:solidFill>
                <a:latin typeface="Urbanist SemiBold"/>
                <a:ea typeface="Urbanist SemiBold"/>
                <a:cs typeface="Urbanist SemiBold"/>
                <a:sym typeface="Urbanist SemiBold"/>
              </a:rPr>
              <a:t>Long Short-Term Memory (LSTM)</a:t>
            </a:r>
            <a:r>
              <a:rPr b="0" i="0" lang="en-US" sz="1425" u="none" cap="none" strike="noStrike">
                <a:solidFill>
                  <a:srgbClr val="9CA3AF"/>
                </a:solidFill>
                <a:latin typeface="Urbanist"/>
                <a:ea typeface="Urbanist"/>
                <a:cs typeface="Urbanist"/>
                <a:sym typeface="Urbanist"/>
              </a:rPr>
              <a:t> utilizes a dedicated linear cell state that protects historical information from fading over hundreds of steps.</a:t>
            </a:r>
            <a:endParaRPr b="0" i="0" sz="1425" u="none" cap="none" strike="noStrike">
              <a:solidFill>
                <a:srgbClr val="9CA3AF"/>
              </a:solidFill>
              <a:latin typeface="Urbanist"/>
              <a:ea typeface="Urbanist"/>
              <a:cs typeface="Urbanist"/>
              <a:sym typeface="Urbanist"/>
            </a:endParaRPr>
          </a:p>
          <a:p>
            <a:pPr indent="0" lvl="0" marL="0" rtl="0" algn="l">
              <a:lnSpc>
                <a:spcPct val="160000"/>
              </a:lnSpc>
              <a:spcBef>
                <a:spcPts val="0"/>
              </a:spcBef>
              <a:spcAft>
                <a:spcPts val="0"/>
              </a:spcAft>
              <a:buNone/>
            </a:pPr>
            <a:r>
              <a:rPr lang="en-US" sz="1350">
                <a:solidFill>
                  <a:srgbClr val="10B981"/>
                </a:solidFill>
                <a:latin typeface="Urbanist SemiBold"/>
                <a:ea typeface="Urbanist SemiBold"/>
                <a:cs typeface="Urbanist SemiBold"/>
                <a:sym typeface="Urbanist SemiBold"/>
              </a:rPr>
              <a:t>Forget Gate:</a:t>
            </a:r>
            <a:r>
              <a:rPr lang="en-US" sz="1350">
                <a:solidFill>
                  <a:srgbClr val="9CA3AF"/>
                </a:solidFill>
                <a:latin typeface="Urbanist"/>
                <a:ea typeface="Urbanist"/>
                <a:cs typeface="Urbanist"/>
                <a:sym typeface="Urbanist"/>
              </a:rPr>
              <a:t> Decides what irrelevant past trends to throw away.</a:t>
            </a:r>
            <a:endParaRPr sz="1350">
              <a:solidFill>
                <a:srgbClr val="9CA3AF"/>
              </a:solidFill>
              <a:latin typeface="Urbanist"/>
              <a:ea typeface="Urbanist"/>
              <a:cs typeface="Urbanist"/>
              <a:sym typeface="Urbanist"/>
            </a:endParaRPr>
          </a:p>
          <a:p>
            <a:pPr indent="0" lvl="0" marL="0" rtl="0" algn="l">
              <a:lnSpc>
                <a:spcPct val="160000"/>
              </a:lnSpc>
              <a:spcBef>
                <a:spcPts val="0"/>
              </a:spcBef>
              <a:spcAft>
                <a:spcPts val="0"/>
              </a:spcAft>
              <a:buNone/>
            </a:pPr>
            <a:r>
              <a:rPr lang="en-US" sz="1350">
                <a:solidFill>
                  <a:srgbClr val="10B981"/>
                </a:solidFill>
                <a:latin typeface="Urbanist SemiBold"/>
                <a:ea typeface="Urbanist SemiBold"/>
                <a:cs typeface="Urbanist SemiBold"/>
                <a:sym typeface="Urbanist SemiBold"/>
              </a:rPr>
              <a:t>Input Gate:</a:t>
            </a:r>
            <a:r>
              <a:rPr lang="en-US" sz="1350">
                <a:solidFill>
                  <a:srgbClr val="9CA3AF"/>
                </a:solidFill>
                <a:latin typeface="Urbanist"/>
                <a:ea typeface="Urbanist"/>
                <a:cs typeface="Urbanist"/>
                <a:sym typeface="Urbanist"/>
              </a:rPr>
              <a:t> Selects what new data from today to write to memory.</a:t>
            </a:r>
            <a:endParaRPr sz="1350">
              <a:solidFill>
                <a:srgbClr val="9CA3AF"/>
              </a:solidFill>
              <a:latin typeface="Urbanist"/>
              <a:ea typeface="Urbanist"/>
              <a:cs typeface="Urbanist"/>
              <a:sym typeface="Urbanist"/>
            </a:endParaRPr>
          </a:p>
          <a:p>
            <a:pPr indent="0" lvl="0" marL="0" rtl="0" algn="l">
              <a:lnSpc>
                <a:spcPct val="160000"/>
              </a:lnSpc>
              <a:spcBef>
                <a:spcPts val="0"/>
              </a:spcBef>
              <a:spcAft>
                <a:spcPts val="0"/>
              </a:spcAft>
              <a:buNone/>
            </a:pPr>
            <a:r>
              <a:rPr lang="en-US" sz="1350">
                <a:solidFill>
                  <a:srgbClr val="10B981"/>
                </a:solidFill>
                <a:latin typeface="Urbanist SemiBold"/>
                <a:ea typeface="Urbanist SemiBold"/>
                <a:cs typeface="Urbanist SemiBold"/>
                <a:sym typeface="Urbanist SemiBold"/>
              </a:rPr>
              <a:t>Output Gate:</a:t>
            </a:r>
            <a:r>
              <a:rPr lang="en-US" sz="1350">
                <a:solidFill>
                  <a:srgbClr val="9CA3AF"/>
                </a:solidFill>
                <a:latin typeface="Urbanist"/>
                <a:ea typeface="Urbanist"/>
                <a:cs typeface="Urbanist"/>
                <a:sym typeface="Urbanist"/>
              </a:rPr>
              <a:t> Controls the final hidden signal sent forward.</a:t>
            </a:r>
            <a:endParaRPr>
              <a:solidFill>
                <a:schemeClr val="dk1"/>
              </a:solidFill>
            </a:endParaRPr>
          </a:p>
          <a:p>
            <a:pPr indent="0" lvl="0" marL="0" rtl="0" algn="l">
              <a:lnSpc>
                <a:spcPct val="160000"/>
              </a:lnSpc>
              <a:spcBef>
                <a:spcPts val="0"/>
              </a:spcBef>
              <a:spcAft>
                <a:spcPts val="0"/>
              </a:spcAft>
              <a:buNone/>
            </a:pPr>
            <a:r>
              <a:t/>
            </a:r>
            <a:endParaRPr sz="1350">
              <a:solidFill>
                <a:srgbClr val="9CA3AF"/>
              </a:solidFill>
              <a:latin typeface="Urbanist"/>
              <a:ea typeface="Urbanist"/>
              <a:cs typeface="Urbanist"/>
              <a:sym typeface="Urbanist"/>
            </a:endParaRPr>
          </a:p>
          <a:p>
            <a:pPr indent="0" lvl="0" marL="0" rtl="0" algn="l">
              <a:lnSpc>
                <a:spcPct val="160000"/>
              </a:lnSpc>
              <a:spcBef>
                <a:spcPts val="0"/>
              </a:spcBef>
              <a:spcAft>
                <a:spcPts val="0"/>
              </a:spcAft>
              <a:buClr>
                <a:schemeClr val="dk1"/>
              </a:buClr>
              <a:buFont typeface="Arial"/>
              <a:buNone/>
            </a:pPr>
            <a:r>
              <a:t/>
            </a:r>
            <a:endParaRPr sz="1350">
              <a:solidFill>
                <a:srgbClr val="9CA3AF"/>
              </a:solidFill>
              <a:latin typeface="Urbanist"/>
              <a:ea typeface="Urbanist"/>
              <a:cs typeface="Urbanist"/>
              <a:sym typeface="Urbanist"/>
            </a:endParaRPr>
          </a:p>
          <a:p>
            <a:pPr indent="0" lvl="0" marL="0" marR="0" rtl="0" algn="l">
              <a:lnSpc>
                <a:spcPct val="159929"/>
              </a:lnSpc>
              <a:spcBef>
                <a:spcPts val="0"/>
              </a:spcBef>
              <a:spcAft>
                <a:spcPts val="0"/>
              </a:spcAft>
              <a:buNone/>
            </a:pPr>
            <a:r>
              <a:t/>
            </a:r>
            <a:endParaRPr sz="1425">
              <a:solidFill>
                <a:srgbClr val="9CA3AF"/>
              </a:solidFill>
              <a:latin typeface="Urbanist"/>
              <a:ea typeface="Urbanist"/>
              <a:cs typeface="Urbanist"/>
              <a:sym typeface="Urbanist"/>
            </a:endParaRPr>
          </a:p>
        </p:txBody>
      </p:sp>
      <p:sp>
        <p:nvSpPr>
          <p:cNvPr id="153" name="Google Shape;153;p18"/>
          <p:cNvSpPr txBox="1"/>
          <p:nvPr/>
        </p:nvSpPr>
        <p:spPr>
          <a:xfrm>
            <a:off x="962025" y="581025"/>
            <a:ext cx="109815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3F4F6"/>
                </a:solidFill>
                <a:latin typeface="Poppins"/>
                <a:ea typeface="Poppins"/>
                <a:cs typeface="Poppins"/>
                <a:sym typeface="Poppins"/>
              </a:rPr>
              <a:t>LSTM</a:t>
            </a:r>
            <a:r>
              <a:rPr b="1" lang="en-US" sz="2850">
                <a:solidFill>
                  <a:srgbClr val="F3F4F6"/>
                </a:solidFill>
                <a:latin typeface="Poppins"/>
                <a:ea typeface="Poppins"/>
                <a:cs typeface="Poppins"/>
                <a:sym typeface="Poppins"/>
              </a:rPr>
              <a:t>. </a:t>
            </a:r>
            <a:r>
              <a:rPr b="1" i="0" lang="en-US" sz="2850" u="none" cap="none" strike="noStrike">
                <a:solidFill>
                  <a:srgbClr val="F3F4F6"/>
                </a:solidFill>
                <a:latin typeface="Poppins"/>
                <a:ea typeface="Poppins"/>
                <a:cs typeface="Poppins"/>
                <a:sym typeface="Poppins"/>
              </a:rPr>
              <a:t>Complex Memory</a:t>
            </a:r>
            <a:endParaRPr/>
          </a:p>
        </p:txBody>
      </p:sp>
      <p:sp>
        <p:nvSpPr>
          <p:cNvPr id="154" name="Google Shape;154;p18"/>
          <p:cNvSpPr/>
          <p:nvPr/>
        </p:nvSpPr>
        <p:spPr>
          <a:xfrm>
            <a:off x="771525" y="581025"/>
            <a:ext cx="57150" cy="542925"/>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55" name="Google Shape;155;p18"/>
          <p:cNvPicPr preferRelativeResize="0"/>
          <p:nvPr/>
        </p:nvPicPr>
        <p:blipFill>
          <a:blip r:embed="rId4">
            <a:alphaModFix/>
          </a:blip>
          <a:stretch>
            <a:fillRect/>
          </a:stretch>
        </p:blipFill>
        <p:spPr>
          <a:xfrm>
            <a:off x="477350" y="2057400"/>
            <a:ext cx="6311125" cy="2743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9"/>
        </a:solidFill>
      </p:bgPr>
    </p:bg>
    <p:spTree>
      <p:nvGrpSpPr>
        <p:cNvPr id="159" name="Shape 159"/>
        <p:cNvGrpSpPr/>
        <p:nvPr/>
      </p:nvGrpSpPr>
      <p:grpSpPr>
        <a:xfrm>
          <a:off x="0" y="0"/>
          <a:ext cx="0" cy="0"/>
          <a:chOff x="0" y="0"/>
          <a:chExt cx="0" cy="0"/>
        </a:xfrm>
      </p:grpSpPr>
      <p:pic>
        <p:nvPicPr>
          <p:cNvPr descr="image.png" id="160" name="Google Shape;160;p1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61" name="Google Shape;161;p19"/>
          <p:cNvSpPr txBox="1"/>
          <p:nvPr/>
        </p:nvSpPr>
        <p:spPr>
          <a:xfrm>
            <a:off x="6842750" y="1864525"/>
            <a:ext cx="4602600" cy="39315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9CA3AF"/>
                </a:solidFill>
                <a:latin typeface="Urbanist"/>
                <a:ea typeface="Urbanist"/>
                <a:cs typeface="Urbanist"/>
                <a:sym typeface="Urbanist"/>
              </a:rPr>
              <a:t>The </a:t>
            </a:r>
            <a:r>
              <a:rPr b="0" i="0" lang="en-US" sz="1425" u="none" cap="none" strike="noStrike">
                <a:solidFill>
                  <a:srgbClr val="10B981"/>
                </a:solidFill>
                <a:latin typeface="Urbanist SemiBold"/>
                <a:ea typeface="Urbanist SemiBold"/>
                <a:cs typeface="Urbanist SemiBold"/>
                <a:sym typeface="Urbanist SemiBold"/>
              </a:rPr>
              <a:t>Gated Recurrent Unit (GRU)</a:t>
            </a:r>
            <a:r>
              <a:rPr b="0" i="0" lang="en-US" sz="1425" u="none" cap="none" strike="noStrike">
                <a:solidFill>
                  <a:srgbClr val="9CA3AF"/>
                </a:solidFill>
                <a:latin typeface="Urbanist"/>
                <a:ea typeface="Urbanist"/>
                <a:cs typeface="Urbanist"/>
                <a:sym typeface="Urbanist"/>
              </a:rPr>
              <a:t> simplifies the sequential memory flow by merging cell and hidden states directly, accelerating calculation speed.</a:t>
            </a:r>
            <a:endParaRPr b="0" i="0" sz="1425" u="none" cap="none" strike="noStrike">
              <a:solidFill>
                <a:srgbClr val="9CA3AF"/>
              </a:solidFill>
              <a:latin typeface="Urbanist"/>
              <a:ea typeface="Urbanist"/>
              <a:cs typeface="Urbanist"/>
              <a:sym typeface="Urbanist"/>
            </a:endParaRPr>
          </a:p>
          <a:p>
            <a:pPr indent="0" lvl="0" marL="0" rtl="0" algn="l">
              <a:lnSpc>
                <a:spcPct val="160000"/>
              </a:lnSpc>
              <a:spcBef>
                <a:spcPts val="0"/>
              </a:spcBef>
              <a:spcAft>
                <a:spcPts val="0"/>
              </a:spcAft>
              <a:buNone/>
            </a:pPr>
            <a:r>
              <a:rPr lang="en-US" sz="1350">
                <a:solidFill>
                  <a:srgbClr val="10B981"/>
                </a:solidFill>
                <a:latin typeface="Urbanist SemiBold"/>
                <a:ea typeface="Urbanist SemiBold"/>
                <a:cs typeface="Urbanist SemiBold"/>
                <a:sym typeface="Urbanist SemiBold"/>
              </a:rPr>
              <a:t>Reset Gate:</a:t>
            </a:r>
            <a:r>
              <a:rPr lang="en-US" sz="1350">
                <a:solidFill>
                  <a:srgbClr val="9CA3AF"/>
                </a:solidFill>
                <a:latin typeface="Urbanist"/>
                <a:ea typeface="Urbanist"/>
                <a:cs typeface="Urbanist"/>
                <a:sym typeface="Urbanist"/>
              </a:rPr>
              <a:t> Determines how much of past market momentum to ignore when a sharp trend change happens.</a:t>
            </a:r>
            <a:endParaRPr sz="1350">
              <a:solidFill>
                <a:srgbClr val="9CA3AF"/>
              </a:solidFill>
              <a:latin typeface="Urbanist"/>
              <a:ea typeface="Urbanist"/>
              <a:cs typeface="Urbanist"/>
              <a:sym typeface="Urbanist"/>
            </a:endParaRPr>
          </a:p>
          <a:p>
            <a:pPr indent="0" lvl="0" marL="0" rtl="0" algn="l">
              <a:lnSpc>
                <a:spcPct val="160000"/>
              </a:lnSpc>
              <a:spcBef>
                <a:spcPts val="0"/>
              </a:spcBef>
              <a:spcAft>
                <a:spcPts val="0"/>
              </a:spcAft>
              <a:buNone/>
            </a:pPr>
            <a:r>
              <a:rPr lang="en-US" sz="1350">
                <a:solidFill>
                  <a:srgbClr val="10B981"/>
                </a:solidFill>
                <a:latin typeface="Urbanist SemiBold"/>
                <a:ea typeface="Urbanist SemiBold"/>
                <a:cs typeface="Urbanist SemiBold"/>
                <a:sym typeface="Urbanist SemiBold"/>
              </a:rPr>
              <a:t>Update Gate:</a:t>
            </a:r>
            <a:r>
              <a:rPr lang="en-US" sz="1350">
                <a:solidFill>
                  <a:srgbClr val="9CA3AF"/>
                </a:solidFill>
                <a:latin typeface="Urbanist"/>
                <a:ea typeface="Urbanist"/>
                <a:cs typeface="Urbanist"/>
                <a:sym typeface="Urbanist"/>
              </a:rPr>
              <a:t> Operates simultaneously as forget and input gate.</a:t>
            </a:r>
            <a:endParaRPr sz="1350">
              <a:solidFill>
                <a:srgbClr val="9CA3AF"/>
              </a:solidFill>
              <a:latin typeface="Urbanist"/>
              <a:ea typeface="Urbanist"/>
              <a:cs typeface="Urbanist"/>
              <a:sym typeface="Urbanist"/>
            </a:endParaRPr>
          </a:p>
          <a:p>
            <a:pPr indent="0" lvl="0" marL="0" rtl="0" algn="l">
              <a:lnSpc>
                <a:spcPct val="160000"/>
              </a:lnSpc>
              <a:spcBef>
                <a:spcPts val="0"/>
              </a:spcBef>
              <a:spcAft>
                <a:spcPts val="0"/>
              </a:spcAft>
              <a:buNone/>
            </a:pPr>
            <a:r>
              <a:rPr lang="en-US" sz="1350">
                <a:solidFill>
                  <a:srgbClr val="10B981"/>
                </a:solidFill>
                <a:latin typeface="Urbanist SemiBold"/>
                <a:ea typeface="Urbanist SemiBold"/>
                <a:cs typeface="Urbanist SemiBold"/>
                <a:sym typeface="Urbanist SemiBold"/>
              </a:rPr>
              <a:t>Speed Optimization:</a:t>
            </a:r>
            <a:r>
              <a:rPr lang="en-US" sz="1350">
                <a:solidFill>
                  <a:srgbClr val="9CA3AF"/>
                </a:solidFill>
                <a:latin typeface="Urbanist"/>
                <a:ea typeface="Urbanist"/>
                <a:cs typeface="Urbanist"/>
                <a:sym typeface="Urbanist"/>
              </a:rPr>
              <a:t> Significantly fewer weights to compute, making GRU models highly agile on volatile datasets.</a:t>
            </a:r>
            <a:endParaRPr>
              <a:solidFill>
                <a:schemeClr val="dk1"/>
              </a:solidFill>
            </a:endParaRPr>
          </a:p>
          <a:p>
            <a:pPr indent="0" lvl="0" marL="0" rtl="0" algn="l">
              <a:lnSpc>
                <a:spcPct val="160000"/>
              </a:lnSpc>
              <a:spcBef>
                <a:spcPts val="0"/>
              </a:spcBef>
              <a:spcAft>
                <a:spcPts val="0"/>
              </a:spcAft>
              <a:buNone/>
            </a:pPr>
            <a:r>
              <a:t/>
            </a:r>
            <a:endParaRPr sz="1350">
              <a:solidFill>
                <a:srgbClr val="9CA3AF"/>
              </a:solidFill>
              <a:latin typeface="Urbanist"/>
              <a:ea typeface="Urbanist"/>
              <a:cs typeface="Urbanist"/>
              <a:sym typeface="Urbanist"/>
            </a:endParaRPr>
          </a:p>
          <a:p>
            <a:pPr indent="0" lvl="0" marL="0" rtl="0" algn="l">
              <a:lnSpc>
                <a:spcPct val="160000"/>
              </a:lnSpc>
              <a:spcBef>
                <a:spcPts val="0"/>
              </a:spcBef>
              <a:spcAft>
                <a:spcPts val="0"/>
              </a:spcAft>
              <a:buClr>
                <a:schemeClr val="dk1"/>
              </a:buClr>
              <a:buFont typeface="Arial"/>
              <a:buNone/>
            </a:pPr>
            <a:r>
              <a:t/>
            </a:r>
            <a:endParaRPr sz="1350">
              <a:solidFill>
                <a:srgbClr val="9CA3AF"/>
              </a:solidFill>
              <a:latin typeface="Urbanist"/>
              <a:ea typeface="Urbanist"/>
              <a:cs typeface="Urbanist"/>
              <a:sym typeface="Urbanist"/>
            </a:endParaRPr>
          </a:p>
          <a:p>
            <a:pPr indent="0" lvl="0" marL="0" marR="0" rtl="0" algn="l">
              <a:lnSpc>
                <a:spcPct val="159929"/>
              </a:lnSpc>
              <a:spcBef>
                <a:spcPts val="0"/>
              </a:spcBef>
              <a:spcAft>
                <a:spcPts val="0"/>
              </a:spcAft>
              <a:buNone/>
            </a:pPr>
            <a:r>
              <a:t/>
            </a:r>
            <a:endParaRPr sz="1425">
              <a:solidFill>
                <a:srgbClr val="9CA3AF"/>
              </a:solidFill>
              <a:latin typeface="Urbanist"/>
              <a:ea typeface="Urbanist"/>
              <a:cs typeface="Urbanist"/>
              <a:sym typeface="Urbanist"/>
            </a:endParaRPr>
          </a:p>
        </p:txBody>
      </p:sp>
      <p:sp>
        <p:nvSpPr>
          <p:cNvPr id="162" name="Google Shape;162;p19"/>
          <p:cNvSpPr txBox="1"/>
          <p:nvPr/>
        </p:nvSpPr>
        <p:spPr>
          <a:xfrm>
            <a:off x="962025" y="581025"/>
            <a:ext cx="109815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3F4F6"/>
                </a:solidFill>
                <a:latin typeface="Poppins"/>
                <a:ea typeface="Poppins"/>
                <a:cs typeface="Poppins"/>
                <a:sym typeface="Poppins"/>
              </a:rPr>
              <a:t>GRU</a:t>
            </a:r>
            <a:r>
              <a:rPr b="1" lang="en-US" sz="2850">
                <a:solidFill>
                  <a:srgbClr val="F3F4F6"/>
                </a:solidFill>
                <a:latin typeface="Poppins"/>
                <a:ea typeface="Poppins"/>
                <a:cs typeface="Poppins"/>
                <a:sym typeface="Poppins"/>
              </a:rPr>
              <a:t>. </a:t>
            </a:r>
            <a:r>
              <a:rPr b="1" i="0" lang="en-US" sz="2850" u="none" cap="none" strike="noStrike">
                <a:solidFill>
                  <a:srgbClr val="F3F4F6"/>
                </a:solidFill>
                <a:latin typeface="Poppins"/>
                <a:ea typeface="Poppins"/>
                <a:cs typeface="Poppins"/>
                <a:sym typeface="Poppins"/>
              </a:rPr>
              <a:t>Agile Design</a:t>
            </a:r>
            <a:endParaRPr/>
          </a:p>
        </p:txBody>
      </p:sp>
      <p:sp>
        <p:nvSpPr>
          <p:cNvPr id="163" name="Google Shape;163;p19"/>
          <p:cNvSpPr/>
          <p:nvPr/>
        </p:nvSpPr>
        <p:spPr>
          <a:xfrm>
            <a:off x="771525" y="581025"/>
            <a:ext cx="57150" cy="542925"/>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64" name="Google Shape;164;p19"/>
          <p:cNvPicPr preferRelativeResize="0"/>
          <p:nvPr/>
        </p:nvPicPr>
        <p:blipFill>
          <a:blip r:embed="rId4">
            <a:alphaModFix/>
          </a:blip>
          <a:stretch>
            <a:fillRect/>
          </a:stretch>
        </p:blipFill>
        <p:spPr>
          <a:xfrm>
            <a:off x="441950" y="1864525"/>
            <a:ext cx="5972623" cy="29513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9"/>
        </a:solidFill>
      </p:bgPr>
    </p:bg>
    <p:spTree>
      <p:nvGrpSpPr>
        <p:cNvPr id="168" name="Shape 168"/>
        <p:cNvGrpSpPr/>
        <p:nvPr/>
      </p:nvGrpSpPr>
      <p:grpSpPr>
        <a:xfrm>
          <a:off x="0" y="0"/>
          <a:ext cx="0" cy="0"/>
          <a:chOff x="0" y="0"/>
          <a:chExt cx="0" cy="0"/>
        </a:xfrm>
      </p:grpSpPr>
      <p:pic>
        <p:nvPicPr>
          <p:cNvPr descr="image.png" id="169" name="Google Shape;169;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70" name="Google Shape;170;p20"/>
          <p:cNvPicPr preferRelativeResize="0"/>
          <p:nvPr/>
        </p:nvPicPr>
        <p:blipFill rotWithShape="1">
          <a:blip r:embed="rId4">
            <a:alphaModFix/>
          </a:blip>
          <a:srcRect b="0" l="0" r="0" t="0"/>
          <a:stretch/>
        </p:blipFill>
        <p:spPr>
          <a:xfrm>
            <a:off x="771525" y="2403425"/>
            <a:ext cx="5181600" cy="2927449"/>
          </a:xfrm>
          <a:prstGeom prst="rect">
            <a:avLst/>
          </a:prstGeom>
          <a:noFill/>
          <a:ln>
            <a:noFill/>
          </a:ln>
        </p:spPr>
      </p:pic>
      <p:pic>
        <p:nvPicPr>
          <p:cNvPr descr="image.png" id="171" name="Google Shape;171;p20"/>
          <p:cNvPicPr preferRelativeResize="0"/>
          <p:nvPr/>
        </p:nvPicPr>
        <p:blipFill rotWithShape="1">
          <a:blip r:embed="rId4">
            <a:alphaModFix/>
          </a:blip>
          <a:srcRect b="0" l="0" r="0" t="0"/>
          <a:stretch/>
        </p:blipFill>
        <p:spPr>
          <a:xfrm>
            <a:off x="6238875" y="2403425"/>
            <a:ext cx="5181600" cy="2927449"/>
          </a:xfrm>
          <a:prstGeom prst="rect">
            <a:avLst/>
          </a:prstGeom>
          <a:noFill/>
          <a:ln>
            <a:noFill/>
          </a:ln>
        </p:spPr>
      </p:pic>
      <p:sp>
        <p:nvSpPr>
          <p:cNvPr id="172" name="Google Shape;172;p20"/>
          <p:cNvSpPr txBox="1"/>
          <p:nvPr/>
        </p:nvSpPr>
        <p:spPr>
          <a:xfrm>
            <a:off x="1428750" y="2746325"/>
            <a:ext cx="4390548" cy="3333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F3F4F6"/>
                </a:solidFill>
                <a:latin typeface="Poppins"/>
                <a:ea typeface="Poppins"/>
                <a:cs typeface="Poppins"/>
                <a:sym typeface="Poppins"/>
              </a:rPr>
              <a:t>Eliminating Data Leakage</a:t>
            </a:r>
            <a:endParaRPr/>
          </a:p>
        </p:txBody>
      </p:sp>
      <p:sp>
        <p:nvSpPr>
          <p:cNvPr id="173" name="Google Shape;173;p20"/>
          <p:cNvSpPr txBox="1"/>
          <p:nvPr/>
        </p:nvSpPr>
        <p:spPr>
          <a:xfrm>
            <a:off x="1114425" y="3251150"/>
            <a:ext cx="4495800" cy="23241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9CA3AF"/>
                </a:solidFill>
                <a:latin typeface="Urbanist"/>
                <a:ea typeface="Urbanist"/>
                <a:cs typeface="Urbanist"/>
                <a:sym typeface="Urbanist"/>
              </a:rPr>
              <a:t>Many quantitative studies use random splits that amestec (mix) past and future data, leading to inflated accuracy.</a:t>
            </a:r>
            <a:endParaRPr b="0" i="0" sz="1425" u="none" cap="none" strike="noStrike">
              <a:solidFill>
                <a:srgbClr val="9CA3AF"/>
              </a:solidFill>
              <a:latin typeface="Urbanist"/>
              <a:ea typeface="Urbanist"/>
              <a:cs typeface="Urbanist"/>
              <a:sym typeface="Urbanist"/>
            </a:endParaRPr>
          </a:p>
          <a:p>
            <a:pPr indent="0" lvl="0" marL="0" rtl="0" algn="l">
              <a:lnSpc>
                <a:spcPct val="159929"/>
              </a:lnSpc>
              <a:spcBef>
                <a:spcPts val="0"/>
              </a:spcBef>
              <a:spcAft>
                <a:spcPts val="0"/>
              </a:spcAft>
              <a:buClr>
                <a:schemeClr val="dk1"/>
              </a:buClr>
              <a:buFont typeface="Arial"/>
              <a:buNone/>
            </a:pPr>
            <a:r>
              <a:rPr lang="en-US" sz="1425">
                <a:solidFill>
                  <a:srgbClr val="10B981"/>
                </a:solidFill>
                <a:latin typeface="Urbanist SemiBold"/>
                <a:ea typeface="Urbanist SemiBold"/>
                <a:cs typeface="Urbanist SemiBold"/>
                <a:sym typeface="Urbanist SemiBold"/>
              </a:rPr>
              <a:t>Solution:</a:t>
            </a:r>
            <a:r>
              <a:rPr lang="en-US" sz="1425">
                <a:solidFill>
                  <a:srgbClr val="9CA3AF"/>
                </a:solidFill>
                <a:latin typeface="Urbanist"/>
                <a:ea typeface="Urbanist"/>
                <a:cs typeface="Urbanist"/>
                <a:sym typeface="Urbanist"/>
              </a:rPr>
              <a:t> Enforced a hard calendar-based split at December 31, 2022. The model is completely blinded from any future test-phase events.</a:t>
            </a:r>
            <a:endParaRPr>
              <a:solidFill>
                <a:schemeClr val="dk1"/>
              </a:solidFill>
            </a:endParaRPr>
          </a:p>
          <a:p>
            <a:pPr indent="0" lvl="0" marL="0" marR="0" rtl="0" algn="l">
              <a:lnSpc>
                <a:spcPct val="159929"/>
              </a:lnSpc>
              <a:spcBef>
                <a:spcPts val="0"/>
              </a:spcBef>
              <a:spcAft>
                <a:spcPts val="0"/>
              </a:spcAft>
              <a:buNone/>
            </a:pPr>
            <a:r>
              <a:t/>
            </a:r>
            <a:endParaRPr sz="1425">
              <a:solidFill>
                <a:srgbClr val="9CA3AF"/>
              </a:solidFill>
              <a:latin typeface="Urbanist"/>
              <a:ea typeface="Urbanist"/>
              <a:cs typeface="Urbanist"/>
              <a:sym typeface="Urbanist"/>
            </a:endParaRPr>
          </a:p>
        </p:txBody>
      </p:sp>
      <p:sp>
        <p:nvSpPr>
          <p:cNvPr id="174" name="Google Shape;174;p20"/>
          <p:cNvSpPr txBox="1"/>
          <p:nvPr/>
        </p:nvSpPr>
        <p:spPr>
          <a:xfrm>
            <a:off x="6924675" y="2746325"/>
            <a:ext cx="4360545" cy="3333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F3F4F6"/>
                </a:solidFill>
                <a:latin typeface="Poppins"/>
                <a:ea typeface="Poppins"/>
                <a:cs typeface="Poppins"/>
                <a:sym typeface="Poppins"/>
              </a:rPr>
              <a:t>Split Configuration</a:t>
            </a:r>
            <a:endParaRPr/>
          </a:p>
        </p:txBody>
      </p:sp>
      <p:sp>
        <p:nvSpPr>
          <p:cNvPr id="175" name="Google Shape;175;p20"/>
          <p:cNvSpPr txBox="1"/>
          <p:nvPr/>
        </p:nvSpPr>
        <p:spPr>
          <a:xfrm>
            <a:off x="6581775" y="3251150"/>
            <a:ext cx="4495800" cy="23241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10B981"/>
                </a:solidFill>
                <a:latin typeface="Urbanist SemiBold"/>
                <a:ea typeface="Urbanist SemiBold"/>
                <a:cs typeface="Urbanist SemiBold"/>
                <a:sym typeface="Urbanist SemiBold"/>
              </a:rPr>
              <a:t>Training Phase (2014-2022):</a:t>
            </a:r>
            <a:r>
              <a:rPr b="0" i="0" lang="en-US" sz="1425" u="none" cap="none" strike="noStrike">
                <a:solidFill>
                  <a:srgbClr val="9CA3AF"/>
                </a:solidFill>
                <a:latin typeface="Urbanist"/>
                <a:ea typeface="Urbanist"/>
                <a:cs typeface="Urbanist"/>
                <a:sym typeface="Urbanist"/>
              </a:rPr>
              <a:t> Over 3,200 continuous market days used to train neural weights on both architectures.</a:t>
            </a:r>
            <a:endParaRPr b="0" i="0" sz="1425" u="none" cap="none" strike="noStrike">
              <a:solidFill>
                <a:srgbClr val="9CA3AF"/>
              </a:solidFill>
              <a:latin typeface="Urbanist"/>
              <a:ea typeface="Urbanist"/>
              <a:cs typeface="Urbanist"/>
              <a:sym typeface="Urbanist"/>
            </a:endParaRPr>
          </a:p>
          <a:p>
            <a:pPr indent="0" lvl="0" marL="0" rtl="0" algn="l">
              <a:lnSpc>
                <a:spcPct val="159929"/>
              </a:lnSpc>
              <a:spcBef>
                <a:spcPts val="0"/>
              </a:spcBef>
              <a:spcAft>
                <a:spcPts val="0"/>
              </a:spcAft>
              <a:buClr>
                <a:schemeClr val="dk1"/>
              </a:buClr>
              <a:buFont typeface="Arial"/>
              <a:buNone/>
            </a:pPr>
            <a:r>
              <a:rPr lang="en-US" sz="1425">
                <a:solidFill>
                  <a:srgbClr val="10B981"/>
                </a:solidFill>
                <a:latin typeface="Urbanist SemiBold"/>
                <a:ea typeface="Urbanist SemiBold"/>
                <a:cs typeface="Urbanist SemiBold"/>
                <a:sym typeface="Urbanist SemiBold"/>
              </a:rPr>
              <a:t>Stress Test Phase (2023-2026):</a:t>
            </a:r>
            <a:r>
              <a:rPr lang="en-US" sz="1425">
                <a:solidFill>
                  <a:srgbClr val="9CA3AF"/>
                </a:solidFill>
                <a:latin typeface="Urbanist"/>
                <a:ea typeface="Urbanist"/>
                <a:cs typeface="Urbanist"/>
                <a:sym typeface="Urbanist"/>
              </a:rPr>
              <a:t> Out-of-sample test window capturing the chaotic artificial intelligence boom cycle.</a:t>
            </a:r>
            <a:endParaRPr>
              <a:solidFill>
                <a:schemeClr val="dk1"/>
              </a:solidFill>
            </a:endParaRPr>
          </a:p>
          <a:p>
            <a:pPr indent="0" lvl="0" marL="0" marR="0" rtl="0" algn="l">
              <a:lnSpc>
                <a:spcPct val="159929"/>
              </a:lnSpc>
              <a:spcBef>
                <a:spcPts val="0"/>
              </a:spcBef>
              <a:spcAft>
                <a:spcPts val="0"/>
              </a:spcAft>
              <a:buNone/>
            </a:pPr>
            <a:r>
              <a:t/>
            </a:r>
            <a:endParaRPr sz="1425">
              <a:solidFill>
                <a:srgbClr val="9CA3AF"/>
              </a:solidFill>
              <a:latin typeface="Urbanist"/>
              <a:ea typeface="Urbanist"/>
              <a:cs typeface="Urbanist"/>
              <a:sym typeface="Urbanist"/>
            </a:endParaRPr>
          </a:p>
        </p:txBody>
      </p:sp>
      <p:pic>
        <p:nvPicPr>
          <p:cNvPr descr="image.png" id="176" name="Google Shape;176;p20"/>
          <p:cNvPicPr preferRelativeResize="0"/>
          <p:nvPr/>
        </p:nvPicPr>
        <p:blipFill rotWithShape="1">
          <a:blip r:embed="rId5">
            <a:alphaModFix/>
          </a:blip>
          <a:srcRect b="0" l="0" r="0" t="0"/>
          <a:stretch/>
        </p:blipFill>
        <p:spPr>
          <a:xfrm>
            <a:off x="1114425" y="2798712"/>
            <a:ext cx="200025" cy="228600"/>
          </a:xfrm>
          <a:prstGeom prst="rect">
            <a:avLst/>
          </a:prstGeom>
          <a:noFill/>
          <a:ln>
            <a:noFill/>
          </a:ln>
        </p:spPr>
      </p:pic>
      <p:pic>
        <p:nvPicPr>
          <p:cNvPr descr="image.png" id="177" name="Google Shape;177;p20"/>
          <p:cNvPicPr preferRelativeResize="0"/>
          <p:nvPr/>
        </p:nvPicPr>
        <p:blipFill rotWithShape="1">
          <a:blip r:embed="rId6">
            <a:alphaModFix/>
          </a:blip>
          <a:srcRect b="0" l="0" r="0" t="0"/>
          <a:stretch/>
        </p:blipFill>
        <p:spPr>
          <a:xfrm>
            <a:off x="6581775" y="2798712"/>
            <a:ext cx="228600" cy="228600"/>
          </a:xfrm>
          <a:prstGeom prst="rect">
            <a:avLst/>
          </a:prstGeom>
          <a:noFill/>
          <a:ln>
            <a:noFill/>
          </a:ln>
        </p:spPr>
      </p:pic>
      <p:sp>
        <p:nvSpPr>
          <p:cNvPr id="178" name="Google Shape;178;p20"/>
          <p:cNvSpPr txBox="1"/>
          <p:nvPr/>
        </p:nvSpPr>
        <p:spPr>
          <a:xfrm>
            <a:off x="962025" y="581025"/>
            <a:ext cx="10981372" cy="542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3F4F6"/>
                </a:solidFill>
                <a:latin typeface="Poppins"/>
                <a:ea typeface="Poppins"/>
                <a:cs typeface="Poppins"/>
                <a:sym typeface="Poppins"/>
              </a:rPr>
              <a:t>Robust Experimental Design</a:t>
            </a:r>
            <a:endParaRPr/>
          </a:p>
        </p:txBody>
      </p:sp>
      <p:sp>
        <p:nvSpPr>
          <p:cNvPr id="179" name="Google Shape;179;p20"/>
          <p:cNvSpPr/>
          <p:nvPr/>
        </p:nvSpPr>
        <p:spPr>
          <a:xfrm>
            <a:off x="771525" y="581025"/>
            <a:ext cx="57150" cy="542925"/>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9"/>
        </a:solidFill>
      </p:bgPr>
    </p:bg>
    <p:spTree>
      <p:nvGrpSpPr>
        <p:cNvPr id="183" name="Shape 183"/>
        <p:cNvGrpSpPr/>
        <p:nvPr/>
      </p:nvGrpSpPr>
      <p:grpSpPr>
        <a:xfrm>
          <a:off x="0" y="0"/>
          <a:ext cx="0" cy="0"/>
          <a:chOff x="0" y="0"/>
          <a:chExt cx="0" cy="0"/>
        </a:xfrm>
      </p:grpSpPr>
      <p:pic>
        <p:nvPicPr>
          <p:cNvPr descr="image.png" id="184" name="Google Shape;184;p2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85" name="Google Shape;185;p21"/>
          <p:cNvSpPr txBox="1"/>
          <p:nvPr/>
        </p:nvSpPr>
        <p:spPr>
          <a:xfrm>
            <a:off x="771525" y="581025"/>
            <a:ext cx="5340667" cy="542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3F4F6"/>
                </a:solidFill>
                <a:latin typeface="Poppins"/>
                <a:ea typeface="Poppins"/>
                <a:cs typeface="Poppins"/>
                <a:sym typeface="Poppins"/>
              </a:rPr>
              <a:t>NVIDIA (NVDA) Results</a:t>
            </a:r>
            <a:endParaRPr/>
          </a:p>
        </p:txBody>
      </p:sp>
      <p:sp>
        <p:nvSpPr>
          <p:cNvPr id="186" name="Google Shape;186;p21"/>
          <p:cNvSpPr/>
          <p:nvPr/>
        </p:nvSpPr>
        <p:spPr>
          <a:xfrm>
            <a:off x="581025" y="581025"/>
            <a:ext cx="57150" cy="542925"/>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87" name="Google Shape;187;p21"/>
          <p:cNvPicPr preferRelativeResize="0"/>
          <p:nvPr/>
        </p:nvPicPr>
        <p:blipFill rotWithShape="1">
          <a:blip r:embed="rId4">
            <a:alphaModFix/>
          </a:blip>
          <a:srcRect b="0" l="0" r="0" t="0"/>
          <a:stretch/>
        </p:blipFill>
        <p:spPr>
          <a:xfrm>
            <a:off x="6334125" y="9525"/>
            <a:ext cx="5848350" cy="6858000"/>
          </a:xfrm>
          <a:prstGeom prst="rect">
            <a:avLst/>
          </a:prstGeom>
          <a:noFill/>
          <a:ln>
            <a:noFill/>
          </a:ln>
        </p:spPr>
      </p:pic>
      <p:sp>
        <p:nvSpPr>
          <p:cNvPr id="188" name="Google Shape;188;p21"/>
          <p:cNvSpPr txBox="1"/>
          <p:nvPr/>
        </p:nvSpPr>
        <p:spPr>
          <a:xfrm>
            <a:off x="581025" y="2569250"/>
            <a:ext cx="5340600" cy="26277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None/>
            </a:pPr>
            <a:r>
              <a:rPr b="0" i="0" lang="en-US" u="none" cap="none" strike="noStrike">
                <a:solidFill>
                  <a:srgbClr val="9CA3AF"/>
                </a:solidFill>
                <a:latin typeface="Urbanist"/>
                <a:ea typeface="Urbanist"/>
                <a:cs typeface="Urbanist"/>
                <a:sym typeface="Urbanist"/>
              </a:rPr>
              <a:t>NVIDIA represents a extreme momentum asset, driven by intense institutional and retail speculation during the AI chip boom.</a:t>
            </a:r>
            <a:endParaRPr b="0" i="0" u="none" cap="none" strike="noStrike">
              <a:solidFill>
                <a:srgbClr val="9CA3AF"/>
              </a:solidFill>
              <a:latin typeface="Urbanist"/>
              <a:ea typeface="Urbanist"/>
              <a:cs typeface="Urbanist"/>
              <a:sym typeface="Urbanist"/>
            </a:endParaRPr>
          </a:p>
          <a:p>
            <a:pPr indent="0" lvl="0" marL="0" rtl="0" algn="l">
              <a:lnSpc>
                <a:spcPct val="159921"/>
              </a:lnSpc>
              <a:spcBef>
                <a:spcPts val="0"/>
              </a:spcBef>
              <a:spcAft>
                <a:spcPts val="0"/>
              </a:spcAft>
              <a:buNone/>
            </a:pPr>
            <a:r>
              <a:rPr lang="en-US">
                <a:solidFill>
                  <a:srgbClr val="9CA3AF"/>
                </a:solidFill>
                <a:latin typeface="Urbanist"/>
                <a:ea typeface="Urbanist"/>
                <a:cs typeface="Urbanist"/>
                <a:sym typeface="Urbanist"/>
              </a:rPr>
              <a:t>On this highly volatile and non-linear trend, the agile </a:t>
            </a:r>
            <a:r>
              <a:rPr lang="en-US">
                <a:solidFill>
                  <a:srgbClr val="10B981"/>
                </a:solidFill>
                <a:latin typeface="Urbanist SemiBold"/>
                <a:ea typeface="Urbanist SemiBold"/>
                <a:cs typeface="Urbanist SemiBold"/>
                <a:sym typeface="Urbanist SemiBold"/>
              </a:rPr>
              <a:t>GRU</a:t>
            </a:r>
            <a:r>
              <a:rPr lang="en-US">
                <a:solidFill>
                  <a:srgbClr val="9CA3AF"/>
                </a:solidFill>
                <a:latin typeface="Urbanist"/>
                <a:ea typeface="Urbanist"/>
                <a:cs typeface="Urbanist"/>
                <a:sym typeface="Urbanist"/>
              </a:rPr>
              <a:t> model achieved an exceptional </a:t>
            </a:r>
            <a:r>
              <a:rPr lang="en-US">
                <a:solidFill>
                  <a:srgbClr val="10B981"/>
                </a:solidFill>
                <a:latin typeface="Urbanist SemiBold"/>
                <a:ea typeface="Urbanist SemiBold"/>
                <a:cs typeface="Urbanist SemiBold"/>
                <a:sym typeface="Urbanist SemiBold"/>
              </a:rPr>
              <a:t>6.78% error (MAPE)</a:t>
            </a:r>
            <a:r>
              <a:rPr lang="en-US">
                <a:solidFill>
                  <a:srgbClr val="9CA3AF"/>
                </a:solidFill>
                <a:latin typeface="Urbanist"/>
                <a:ea typeface="Urbanist"/>
                <a:cs typeface="Urbanist"/>
                <a:sym typeface="Urbanist"/>
              </a:rPr>
              <a:t>.</a:t>
            </a:r>
            <a:endParaRPr>
              <a:solidFill>
                <a:srgbClr val="9CA3AF"/>
              </a:solidFill>
              <a:latin typeface="Urbanist"/>
              <a:ea typeface="Urbanist"/>
              <a:cs typeface="Urbanist"/>
              <a:sym typeface="Urbanist"/>
            </a:endParaRPr>
          </a:p>
          <a:p>
            <a:pPr indent="0" lvl="0" marL="0" rtl="0" algn="l">
              <a:lnSpc>
                <a:spcPct val="159921"/>
              </a:lnSpc>
              <a:spcBef>
                <a:spcPts val="0"/>
              </a:spcBef>
              <a:spcAft>
                <a:spcPts val="0"/>
              </a:spcAft>
              <a:buNone/>
            </a:pPr>
            <a:r>
              <a:rPr lang="en-US">
                <a:solidFill>
                  <a:srgbClr val="9CA3AF"/>
                </a:solidFill>
                <a:latin typeface="Urbanist"/>
                <a:ea typeface="Urbanist"/>
                <a:cs typeface="Urbanist"/>
                <a:sym typeface="Urbanist"/>
              </a:rPr>
              <a:t>The heavier LSTM model lagged behind, recording a </a:t>
            </a:r>
            <a:r>
              <a:rPr lang="en-US">
                <a:solidFill>
                  <a:srgbClr val="10B981"/>
                </a:solidFill>
                <a:latin typeface="Urbanist SemiBold"/>
                <a:ea typeface="Urbanist SemiBold"/>
                <a:cs typeface="Urbanist SemiBold"/>
                <a:sym typeface="Urbanist SemiBold"/>
              </a:rPr>
              <a:t>9.15% error</a:t>
            </a:r>
            <a:r>
              <a:rPr lang="en-US">
                <a:solidFill>
                  <a:srgbClr val="9CA3AF"/>
                </a:solidFill>
                <a:latin typeface="Urbanist"/>
                <a:ea typeface="Urbanist"/>
                <a:cs typeface="Urbanist"/>
                <a:sym typeface="Urbanist"/>
              </a:rPr>
              <a:t> due to memory retention overhead during sharp price adjustments.</a:t>
            </a:r>
            <a:endParaRPr>
              <a:solidFill>
                <a:schemeClr val="dk1"/>
              </a:solidFill>
            </a:endParaRPr>
          </a:p>
          <a:p>
            <a:pPr indent="0" lvl="0" marL="0" rtl="0" algn="l">
              <a:lnSpc>
                <a:spcPct val="159921"/>
              </a:lnSpc>
              <a:spcBef>
                <a:spcPts val="0"/>
              </a:spcBef>
              <a:spcAft>
                <a:spcPts val="0"/>
              </a:spcAft>
              <a:buClr>
                <a:schemeClr val="dk1"/>
              </a:buClr>
              <a:buFont typeface="Arial"/>
              <a:buNone/>
            </a:pPr>
            <a:r>
              <a:t/>
            </a:r>
            <a:endParaRPr>
              <a:solidFill>
                <a:srgbClr val="9CA3AF"/>
              </a:solidFill>
              <a:latin typeface="Urbanist"/>
              <a:ea typeface="Urbanist"/>
              <a:cs typeface="Urbanist"/>
              <a:sym typeface="Urbanist"/>
            </a:endParaRPr>
          </a:p>
          <a:p>
            <a:pPr indent="0" lvl="0" marL="0" marR="0" rtl="0" algn="l">
              <a:lnSpc>
                <a:spcPct val="159921"/>
              </a:lnSpc>
              <a:spcBef>
                <a:spcPts val="0"/>
              </a:spcBef>
              <a:spcAft>
                <a:spcPts val="0"/>
              </a:spcAft>
              <a:buNone/>
            </a:pPr>
            <a:r>
              <a:t/>
            </a:r>
            <a:endParaRPr>
              <a:solidFill>
                <a:srgbClr val="9CA3AF"/>
              </a:solidFill>
              <a:latin typeface="Urbanist"/>
              <a:ea typeface="Urbanist"/>
              <a:cs typeface="Urbanist"/>
              <a:sym typeface="Urbanis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9"/>
        </a:solidFill>
      </p:bgPr>
    </p:bg>
    <p:spTree>
      <p:nvGrpSpPr>
        <p:cNvPr id="192" name="Shape 192"/>
        <p:cNvGrpSpPr/>
        <p:nvPr/>
      </p:nvGrpSpPr>
      <p:grpSpPr>
        <a:xfrm>
          <a:off x="0" y="0"/>
          <a:ext cx="0" cy="0"/>
          <a:chOff x="0" y="0"/>
          <a:chExt cx="0" cy="0"/>
        </a:xfrm>
      </p:grpSpPr>
      <p:pic>
        <p:nvPicPr>
          <p:cNvPr descr="image.png" id="193" name="Google Shape;193;p2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94" name="Google Shape;194;p22"/>
          <p:cNvSpPr txBox="1"/>
          <p:nvPr/>
        </p:nvSpPr>
        <p:spPr>
          <a:xfrm>
            <a:off x="771525" y="581025"/>
            <a:ext cx="53406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50">
                <a:solidFill>
                  <a:srgbClr val="F3F4F6"/>
                </a:solidFill>
                <a:latin typeface="Poppins"/>
                <a:ea typeface="Poppins"/>
                <a:cs typeface="Poppins"/>
                <a:sym typeface="Poppins"/>
              </a:rPr>
              <a:t>Apple Inc. (AAPL) Results</a:t>
            </a:r>
            <a:endParaRPr/>
          </a:p>
        </p:txBody>
      </p:sp>
      <p:sp>
        <p:nvSpPr>
          <p:cNvPr id="195" name="Google Shape;195;p22"/>
          <p:cNvSpPr/>
          <p:nvPr/>
        </p:nvSpPr>
        <p:spPr>
          <a:xfrm>
            <a:off x="581025" y="581025"/>
            <a:ext cx="57300" cy="543000"/>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6" name="Google Shape;196;p22"/>
          <p:cNvSpPr txBox="1"/>
          <p:nvPr/>
        </p:nvSpPr>
        <p:spPr>
          <a:xfrm>
            <a:off x="638325" y="2451825"/>
            <a:ext cx="4143300" cy="3025800"/>
          </a:xfrm>
          <a:prstGeom prst="rect">
            <a:avLst/>
          </a:prstGeom>
          <a:noFill/>
          <a:ln>
            <a:noFill/>
          </a:ln>
        </p:spPr>
        <p:txBody>
          <a:bodyPr anchorCtr="0" anchor="t" bIns="0" lIns="0" spcFirstLastPara="1" rIns="0" wrap="square" tIns="0">
            <a:spAutoFit/>
          </a:bodyPr>
          <a:lstStyle/>
          <a:p>
            <a:pPr indent="0" lvl="0" marL="0" rtl="0" algn="l">
              <a:lnSpc>
                <a:spcPct val="159929"/>
              </a:lnSpc>
              <a:spcBef>
                <a:spcPts val="0"/>
              </a:spcBef>
              <a:spcAft>
                <a:spcPts val="0"/>
              </a:spcAft>
              <a:buClr>
                <a:schemeClr val="dk1"/>
              </a:buClr>
              <a:buFont typeface="Arial"/>
              <a:buNone/>
            </a:pPr>
            <a:r>
              <a:rPr lang="en-US" sz="1425">
                <a:solidFill>
                  <a:srgbClr val="9CA3AF"/>
                </a:solidFill>
                <a:latin typeface="Urbanist"/>
                <a:ea typeface="Urbanist"/>
                <a:cs typeface="Urbanist"/>
                <a:sym typeface="Urbanist"/>
              </a:rPr>
              <a:t>AAPL represents a highly liquid, stable technology asset with long, consistent trend lines. Since Apple displays highly structured macro-trends without erratic intraday swings, it serves as an ideal baseline for evaluating sequential memory performance.</a:t>
            </a:r>
            <a:endParaRPr sz="1425">
              <a:solidFill>
                <a:srgbClr val="9CA3AF"/>
              </a:solidFill>
              <a:latin typeface="Urbanist"/>
              <a:ea typeface="Urbanist"/>
              <a:cs typeface="Urbanist"/>
              <a:sym typeface="Urbanist"/>
            </a:endParaRPr>
          </a:p>
          <a:p>
            <a:pPr indent="0" lvl="0" marL="0" rtl="0" algn="l">
              <a:lnSpc>
                <a:spcPct val="159929"/>
              </a:lnSpc>
              <a:spcBef>
                <a:spcPts val="0"/>
              </a:spcBef>
              <a:spcAft>
                <a:spcPts val="0"/>
              </a:spcAft>
              <a:buClr>
                <a:schemeClr val="dk1"/>
              </a:buClr>
              <a:buFont typeface="Arial"/>
              <a:buNone/>
            </a:pPr>
            <a:r>
              <a:rPr lang="en-US" sz="1425">
                <a:solidFill>
                  <a:srgbClr val="10B981"/>
                </a:solidFill>
                <a:latin typeface="Urbanist SemiBold"/>
                <a:ea typeface="Urbanist SemiBold"/>
                <a:cs typeface="Urbanist SemiBold"/>
                <a:sym typeface="Urbanist SemiBold"/>
              </a:rPr>
              <a:t>LSTM Advantage:</a:t>
            </a:r>
            <a:r>
              <a:rPr lang="en-US" sz="1425">
                <a:solidFill>
                  <a:srgbClr val="9CA3AF"/>
                </a:solidFill>
                <a:latin typeface="Urbanist"/>
                <a:ea typeface="Urbanist"/>
                <a:cs typeface="Urbanist"/>
                <a:sym typeface="Urbanist"/>
              </a:rPr>
              <a:t> Thanks to its complex memory cell state, the LSTM model excelled in tracking long-term stable lines, achieving a </a:t>
            </a:r>
            <a:r>
              <a:rPr lang="en-US" sz="1425">
                <a:solidFill>
                  <a:srgbClr val="10B981"/>
                </a:solidFill>
                <a:latin typeface="Urbanist SemiBold"/>
                <a:ea typeface="Urbanist SemiBold"/>
                <a:cs typeface="Urbanist SemiBold"/>
                <a:sym typeface="Urbanist SemiBold"/>
              </a:rPr>
              <a:t>3.42% MAPE</a:t>
            </a:r>
            <a:r>
              <a:rPr lang="en-US" sz="1425">
                <a:solidFill>
                  <a:srgbClr val="9CA3AF"/>
                </a:solidFill>
                <a:latin typeface="Urbanist"/>
                <a:ea typeface="Urbanist"/>
                <a:cs typeface="Urbanist"/>
                <a:sym typeface="Urbanist"/>
              </a:rPr>
              <a:t> compared to GRU's 5.19%.</a:t>
            </a:r>
            <a:endParaRPr sz="1275">
              <a:solidFill>
                <a:srgbClr val="9CA3AF"/>
              </a:solidFill>
              <a:latin typeface="Urbanist"/>
              <a:ea typeface="Urbanist"/>
              <a:cs typeface="Urbanist"/>
              <a:sym typeface="Urbanist"/>
            </a:endParaRPr>
          </a:p>
        </p:txBody>
      </p:sp>
      <p:pic>
        <p:nvPicPr>
          <p:cNvPr id="197" name="Google Shape;197;p22" title="Screenshot 2026-07-05 at 14.02.43.png"/>
          <p:cNvPicPr preferRelativeResize="0"/>
          <p:nvPr/>
        </p:nvPicPr>
        <p:blipFill>
          <a:blip r:embed="rId4">
            <a:alphaModFix/>
          </a:blip>
          <a:stretch>
            <a:fillRect/>
          </a:stretch>
        </p:blipFill>
        <p:spPr>
          <a:xfrm>
            <a:off x="5999800" y="782457"/>
            <a:ext cx="5834999" cy="529309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9"/>
        </a:solidFill>
      </p:bgPr>
    </p:bg>
    <p:spTree>
      <p:nvGrpSpPr>
        <p:cNvPr id="201" name="Shape 201"/>
        <p:cNvGrpSpPr/>
        <p:nvPr/>
      </p:nvGrpSpPr>
      <p:grpSpPr>
        <a:xfrm>
          <a:off x="0" y="0"/>
          <a:ext cx="0" cy="0"/>
          <a:chOff x="0" y="0"/>
          <a:chExt cx="0" cy="0"/>
        </a:xfrm>
      </p:grpSpPr>
      <p:pic>
        <p:nvPicPr>
          <p:cNvPr descr="image.png" id="202" name="Google Shape;202;p2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03" name="Google Shape;203;p23"/>
          <p:cNvSpPr txBox="1"/>
          <p:nvPr/>
        </p:nvSpPr>
        <p:spPr>
          <a:xfrm>
            <a:off x="771525" y="581025"/>
            <a:ext cx="4836900" cy="877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50">
                <a:solidFill>
                  <a:srgbClr val="F3F4F6"/>
                </a:solidFill>
                <a:latin typeface="Poppins"/>
                <a:ea typeface="Poppins"/>
                <a:cs typeface="Poppins"/>
                <a:sym typeface="Poppins"/>
              </a:rPr>
              <a:t>JPMorgan Chase (JPM) Results</a:t>
            </a:r>
            <a:endParaRPr/>
          </a:p>
        </p:txBody>
      </p:sp>
      <p:sp>
        <p:nvSpPr>
          <p:cNvPr id="204" name="Google Shape;204;p23"/>
          <p:cNvSpPr/>
          <p:nvPr/>
        </p:nvSpPr>
        <p:spPr>
          <a:xfrm>
            <a:off x="581025" y="581025"/>
            <a:ext cx="57300" cy="543000"/>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5" name="Google Shape;205;p23"/>
          <p:cNvSpPr txBox="1"/>
          <p:nvPr/>
        </p:nvSpPr>
        <p:spPr>
          <a:xfrm>
            <a:off x="581025" y="2618779"/>
            <a:ext cx="55407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a:p>
        </p:txBody>
      </p:sp>
      <p:sp>
        <p:nvSpPr>
          <p:cNvPr id="206" name="Google Shape;206;p23"/>
          <p:cNvSpPr txBox="1"/>
          <p:nvPr/>
        </p:nvSpPr>
        <p:spPr>
          <a:xfrm>
            <a:off x="581025" y="2618775"/>
            <a:ext cx="4494000" cy="3376500"/>
          </a:xfrm>
          <a:prstGeom prst="rect">
            <a:avLst/>
          </a:prstGeom>
          <a:noFill/>
          <a:ln>
            <a:noFill/>
          </a:ln>
        </p:spPr>
        <p:txBody>
          <a:bodyPr anchorCtr="0" anchor="t" bIns="0" lIns="0" spcFirstLastPara="1" rIns="0" wrap="square" tIns="0">
            <a:spAutoFit/>
          </a:bodyPr>
          <a:lstStyle/>
          <a:p>
            <a:pPr indent="0" lvl="0" marL="0" rtl="0" algn="l">
              <a:lnSpc>
                <a:spcPct val="159929"/>
              </a:lnSpc>
              <a:spcBef>
                <a:spcPts val="0"/>
              </a:spcBef>
              <a:spcAft>
                <a:spcPts val="0"/>
              </a:spcAft>
              <a:buNone/>
            </a:pPr>
            <a:r>
              <a:rPr lang="en-US" sz="1425">
                <a:solidFill>
                  <a:srgbClr val="9CA3AF"/>
                </a:solidFill>
                <a:latin typeface="Urbanist"/>
                <a:ea typeface="Urbanist"/>
                <a:cs typeface="Urbanist"/>
                <a:sym typeface="Urbanist"/>
              </a:rPr>
              <a:t>JPM represents a traditional, cyclical financial company heavily affected by interest rate policies. Its market price is strongly tied to central bank monetary tightening cycles, liquidity updates, and national rate regimes, resulting in distinct cyclical support bounds rather than parabolic growth.</a:t>
            </a:r>
            <a:endParaRPr sz="1425">
              <a:solidFill>
                <a:srgbClr val="9CA3AF"/>
              </a:solidFill>
              <a:latin typeface="Urbanist"/>
              <a:ea typeface="Urbanist"/>
              <a:cs typeface="Urbanist"/>
              <a:sym typeface="Urbanist"/>
            </a:endParaRPr>
          </a:p>
          <a:p>
            <a:pPr indent="0" lvl="0" marL="0" rtl="0" algn="l">
              <a:lnSpc>
                <a:spcPct val="159929"/>
              </a:lnSpc>
              <a:spcBef>
                <a:spcPts val="0"/>
              </a:spcBef>
              <a:spcAft>
                <a:spcPts val="0"/>
              </a:spcAft>
              <a:buNone/>
            </a:pPr>
            <a:r>
              <a:rPr lang="en-US" sz="1425">
                <a:solidFill>
                  <a:srgbClr val="10B981"/>
                </a:solidFill>
                <a:latin typeface="Urbanist SemiBold"/>
                <a:ea typeface="Urbanist SemiBold"/>
                <a:cs typeface="Urbanist SemiBold"/>
                <a:sym typeface="Urbanist SemiBold"/>
              </a:rPr>
              <a:t>GRU Accuracy:</a:t>
            </a:r>
            <a:r>
              <a:rPr lang="en-US" sz="1425">
                <a:solidFill>
                  <a:srgbClr val="9CA3AF"/>
                </a:solidFill>
                <a:latin typeface="Urbanist"/>
                <a:ea typeface="Urbanist"/>
                <a:cs typeface="Urbanist"/>
                <a:sym typeface="Urbanist"/>
              </a:rPr>
              <a:t> The GRU model managed the cyclical support levels with maximum efficiency, registering the lowest overall error of the study at </a:t>
            </a:r>
            <a:r>
              <a:rPr lang="en-US" sz="1425">
                <a:solidFill>
                  <a:srgbClr val="10B981"/>
                </a:solidFill>
                <a:latin typeface="Urbanist SemiBold"/>
                <a:ea typeface="Urbanist SemiBold"/>
                <a:cs typeface="Urbanist SemiBold"/>
                <a:sym typeface="Urbanist SemiBold"/>
              </a:rPr>
              <a:t>1.97% MAPE</a:t>
            </a:r>
            <a:r>
              <a:rPr lang="en-US" sz="1425">
                <a:solidFill>
                  <a:srgbClr val="9CA3AF"/>
                </a:solidFill>
                <a:latin typeface="Urbanist"/>
                <a:ea typeface="Urbanist"/>
                <a:cs typeface="Urbanist"/>
                <a:sym typeface="Urbanist"/>
              </a:rPr>
              <a:t>.</a:t>
            </a:r>
            <a:endParaRPr>
              <a:solidFill>
                <a:schemeClr val="dk1"/>
              </a:solidFill>
            </a:endParaRPr>
          </a:p>
          <a:p>
            <a:pPr indent="0" lvl="0" marL="0" rtl="0" algn="l">
              <a:lnSpc>
                <a:spcPct val="159929"/>
              </a:lnSpc>
              <a:spcBef>
                <a:spcPts val="0"/>
              </a:spcBef>
              <a:spcAft>
                <a:spcPts val="0"/>
              </a:spcAft>
              <a:buClr>
                <a:schemeClr val="dk1"/>
              </a:buClr>
              <a:buFont typeface="Arial"/>
              <a:buNone/>
            </a:pPr>
            <a:r>
              <a:t/>
            </a:r>
            <a:endParaRPr sz="1425">
              <a:solidFill>
                <a:srgbClr val="9CA3AF"/>
              </a:solidFill>
              <a:latin typeface="Urbanist"/>
              <a:ea typeface="Urbanist"/>
              <a:cs typeface="Urbanist"/>
              <a:sym typeface="Urbanist"/>
            </a:endParaRPr>
          </a:p>
        </p:txBody>
      </p:sp>
      <p:pic>
        <p:nvPicPr>
          <p:cNvPr id="207" name="Google Shape;207;p23"/>
          <p:cNvPicPr preferRelativeResize="0"/>
          <p:nvPr/>
        </p:nvPicPr>
        <p:blipFill>
          <a:blip r:embed="rId4">
            <a:alphaModFix/>
          </a:blip>
          <a:stretch>
            <a:fillRect/>
          </a:stretch>
        </p:blipFill>
        <p:spPr>
          <a:xfrm>
            <a:off x="5455925" y="1616650"/>
            <a:ext cx="6629424" cy="39776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9"/>
        </a:solidFill>
      </p:bgPr>
    </p:bg>
    <p:spTree>
      <p:nvGrpSpPr>
        <p:cNvPr id="211" name="Shape 211"/>
        <p:cNvGrpSpPr/>
        <p:nvPr/>
      </p:nvGrpSpPr>
      <p:grpSpPr>
        <a:xfrm>
          <a:off x="0" y="0"/>
          <a:ext cx="0" cy="0"/>
          <a:chOff x="0" y="0"/>
          <a:chExt cx="0" cy="0"/>
        </a:xfrm>
      </p:grpSpPr>
      <p:pic>
        <p:nvPicPr>
          <p:cNvPr descr="image.png" id="212" name="Google Shape;212;p2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13" name="Google Shape;213;p24"/>
          <p:cNvSpPr/>
          <p:nvPr/>
        </p:nvSpPr>
        <p:spPr>
          <a:xfrm>
            <a:off x="771525" y="2083147"/>
            <a:ext cx="10648950" cy="3568005"/>
          </a:xfrm>
          <a:prstGeom prst="roundRect">
            <a:avLst>
              <a:gd fmla="val 0" name="adj"/>
            </a:avLst>
          </a:prstGeom>
          <a:solidFill>
            <a:srgbClr val="111827"/>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14" name="Google Shape;214;p24"/>
          <p:cNvGraphicFramePr/>
          <p:nvPr/>
        </p:nvGraphicFramePr>
        <p:xfrm>
          <a:off x="771525" y="2083147"/>
          <a:ext cx="3000000" cy="3000000"/>
        </p:xfrm>
        <a:graphic>
          <a:graphicData uri="http://schemas.openxmlformats.org/drawingml/2006/table">
            <a:tbl>
              <a:tblPr bandRow="1" firstRow="1">
                <a:noFill/>
                <a:tableStyleId>{8751B710-472B-4550-BD42-738B71C01416}</a:tableStyleId>
              </a:tblPr>
              <a:tblGrid>
                <a:gridCol w="2735300"/>
                <a:gridCol w="2790825"/>
                <a:gridCol w="1410450"/>
                <a:gridCol w="1319800"/>
                <a:gridCol w="2383025"/>
              </a:tblGrid>
              <a:tr h="509725">
                <a:tc>
                  <a:txBody>
                    <a:bodyPr/>
                    <a:lstStyle/>
                    <a:p>
                      <a:pPr indent="0" lvl="0" marL="0" marR="0" rtl="0" algn="l">
                        <a:spcBef>
                          <a:spcPts val="0"/>
                        </a:spcBef>
                        <a:spcAft>
                          <a:spcPts val="0"/>
                        </a:spcAft>
                        <a:buNone/>
                      </a:pPr>
                      <a:r>
                        <a:rPr b="0" i="0" lang="en-US" sz="1200" u="none" cap="none" strike="noStrike">
                          <a:solidFill>
                            <a:srgbClr val="10B981"/>
                          </a:solidFill>
                          <a:latin typeface="Poppins SemiBold"/>
                          <a:ea typeface="Poppins SemiBold"/>
                          <a:cs typeface="Poppins SemiBold"/>
                          <a:sym typeface="Poppins SemiBold"/>
                        </a:rPr>
                        <a:t>Target Asset Class (Ticker)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None/>
                      </a:pPr>
                      <a:r>
                        <a:rPr b="0" i="0" lang="en-US" sz="1200" u="none" cap="none" strike="noStrike">
                          <a:solidFill>
                            <a:srgbClr val="10B981"/>
                          </a:solidFill>
                          <a:latin typeface="Poppins SemiBold"/>
                          <a:ea typeface="Poppins SemiBold"/>
                          <a:cs typeface="Poppins SemiBold"/>
                          <a:sym typeface="Poppins SemiBold"/>
                        </a:rPr>
                        <a:t>Neural Network Architecture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None/>
                      </a:pPr>
                      <a:r>
                        <a:rPr b="0" i="0" lang="en-US" sz="1200" u="none" cap="none" strike="noStrike">
                          <a:solidFill>
                            <a:srgbClr val="10B981"/>
                          </a:solidFill>
                          <a:latin typeface="Poppins SemiBold"/>
                          <a:ea typeface="Poppins SemiBold"/>
                          <a:cs typeface="Poppins SemiBold"/>
                          <a:sym typeface="Poppins SemiBold"/>
                        </a:rPr>
                        <a:t>RMSE (USD)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None/>
                      </a:pPr>
                      <a:r>
                        <a:rPr b="0" i="0" lang="en-US" sz="1200" u="none" cap="none" strike="noStrike">
                          <a:solidFill>
                            <a:srgbClr val="10B981"/>
                          </a:solidFill>
                          <a:latin typeface="Poppins SemiBold"/>
                          <a:ea typeface="Poppins SemiBold"/>
                          <a:cs typeface="Poppins SemiBold"/>
                          <a:sym typeface="Poppins SemiBold"/>
                        </a:rPr>
                        <a:t>MAE (USD)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None/>
                      </a:pPr>
                      <a:r>
                        <a:rPr b="0" i="0" lang="en-US" sz="1200" u="none" cap="none" strike="noStrike">
                          <a:solidFill>
                            <a:srgbClr val="10B981"/>
                          </a:solidFill>
                          <a:latin typeface="Poppins SemiBold"/>
                          <a:ea typeface="Poppins SemiBold"/>
                          <a:cs typeface="Poppins SemiBold"/>
                          <a:sym typeface="Poppins SemiBold"/>
                        </a:rPr>
                        <a:t>MAPE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11827"/>
                    </a:solidFill>
                  </a:tcPr>
                </a:tc>
              </a:tr>
              <a:tr h="509725">
                <a:tc>
                  <a:txBody>
                    <a:bodyPr/>
                    <a:lstStyle/>
                    <a:p>
                      <a:pPr indent="0" lvl="0" marL="0" marR="0" rtl="0" algn="l">
                        <a:spcBef>
                          <a:spcPts val="0"/>
                        </a:spcBef>
                        <a:spcAft>
                          <a:spcPts val="0"/>
                        </a:spcAft>
                        <a:buNone/>
                      </a:pPr>
                      <a:r>
                        <a:rPr b="0" i="0" lang="en-US" sz="1125" u="none" cap="none" strike="noStrike">
                          <a:latin typeface="Urbanist SemiBold"/>
                          <a:ea typeface="Urbanist SemiBold"/>
                          <a:cs typeface="Urbanist SemiBold"/>
                          <a:sym typeface="Urbanist SemiBold"/>
                        </a:rPr>
                        <a:t>Apple Inc. (AAPL)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0B981"/>
                    </a:solidFill>
                  </a:tcPr>
                </a:tc>
                <a:tc>
                  <a:txBody>
                    <a:bodyPr/>
                    <a:lstStyle/>
                    <a:p>
                      <a:pPr indent="0" lvl="0" marL="0" marR="0" rtl="0" algn="l">
                        <a:spcBef>
                          <a:spcPts val="0"/>
                        </a:spcBef>
                        <a:spcAft>
                          <a:spcPts val="0"/>
                        </a:spcAft>
                        <a:buNone/>
                      </a:pPr>
                      <a:r>
                        <a:rPr b="0" i="0" lang="en-US" sz="1125" u="none" cap="none" strike="noStrike">
                          <a:latin typeface="Urbanist SemiBold"/>
                          <a:ea typeface="Urbanist SemiBold"/>
                          <a:cs typeface="Urbanist SemiBold"/>
                          <a:sym typeface="Urbanist SemiBold"/>
                        </a:rPr>
                        <a:t>LSTM (Long Short-Term Memory)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0B981"/>
                    </a:solidFill>
                  </a:tcPr>
                </a:tc>
                <a:tc>
                  <a:txBody>
                    <a:bodyPr/>
                    <a:lstStyle/>
                    <a:p>
                      <a:pPr indent="0" lvl="0" marL="0" marR="0" rtl="0" algn="l">
                        <a:spcBef>
                          <a:spcPts val="0"/>
                        </a:spcBef>
                        <a:spcAft>
                          <a:spcPts val="0"/>
                        </a:spcAft>
                        <a:buNone/>
                      </a:pPr>
                      <a:r>
                        <a:rPr b="0" i="0" lang="en-US" sz="1125" u="none" cap="none" strike="noStrike">
                          <a:latin typeface="Urbanist SemiBold"/>
                          <a:ea typeface="Urbanist SemiBold"/>
                          <a:cs typeface="Urbanist SemiBold"/>
                          <a:sym typeface="Urbanist SemiBold"/>
                        </a:rPr>
                        <a:t>10.5215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0B981"/>
                    </a:solidFill>
                  </a:tcPr>
                </a:tc>
                <a:tc>
                  <a:txBody>
                    <a:bodyPr/>
                    <a:lstStyle/>
                    <a:p>
                      <a:pPr indent="0" lvl="0" marL="0" marR="0" rtl="0" algn="l">
                        <a:spcBef>
                          <a:spcPts val="0"/>
                        </a:spcBef>
                        <a:spcAft>
                          <a:spcPts val="0"/>
                        </a:spcAft>
                        <a:buNone/>
                      </a:pPr>
                      <a:r>
                        <a:rPr b="0" i="0" lang="en-US" sz="1125" u="none" cap="none" strike="noStrike">
                          <a:latin typeface="Urbanist SemiBold"/>
                          <a:ea typeface="Urbanist SemiBold"/>
                          <a:cs typeface="Urbanist SemiBold"/>
                          <a:sym typeface="Urbanist SemiBold"/>
                        </a:rPr>
                        <a:t>7.8771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0B981"/>
                    </a:solidFill>
                  </a:tcPr>
                </a:tc>
                <a:tc>
                  <a:txBody>
                    <a:bodyPr/>
                    <a:lstStyle/>
                    <a:p>
                      <a:pPr indent="0" lvl="0" marL="0" marR="0" rtl="0" algn="l">
                        <a:spcBef>
                          <a:spcPts val="0"/>
                        </a:spcBef>
                        <a:spcAft>
                          <a:spcPts val="0"/>
                        </a:spcAft>
                        <a:buNone/>
                      </a:pPr>
                      <a:r>
                        <a:rPr b="0" i="0" lang="en-US" sz="1125" u="none" cap="none" strike="noStrike">
                          <a:latin typeface="Urbanist SemiBold"/>
                          <a:ea typeface="Urbanist SemiBold"/>
                          <a:cs typeface="Urbanist SemiBold"/>
                          <a:sym typeface="Urbanist SemiBold"/>
                        </a:rPr>
                        <a:t>3.42% (Optimal AAPL)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0B981"/>
                    </a:solidFill>
                  </a:tcPr>
                </a:tc>
              </a:tr>
              <a:tr h="509725">
                <a:tc>
                  <a:txBody>
                    <a:bodyPr/>
                    <a:lstStyle/>
                    <a:p>
                      <a:pPr indent="0" lvl="0" marL="0" marR="0" rtl="0" algn="l">
                        <a:spcBef>
                          <a:spcPts val="0"/>
                        </a:spcBef>
                        <a:spcAft>
                          <a:spcPts val="0"/>
                        </a:spcAft>
                        <a:buNone/>
                      </a:pPr>
                      <a:r>
                        <a:rPr b="0" i="0" lang="en-US" sz="1125" u="none" cap="none" strike="noStrike">
                          <a:latin typeface="Urbanist"/>
                          <a:ea typeface="Urbanist"/>
                          <a:cs typeface="Urbanist"/>
                          <a:sym typeface="Urbanist"/>
                        </a:rPr>
                        <a:t>Apple Inc. (AAPL)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latin typeface="Urbanist"/>
                          <a:ea typeface="Urbanist"/>
                          <a:cs typeface="Urbanist"/>
                          <a:sym typeface="Urbanist"/>
                        </a:rPr>
                        <a:t>GRU (Gated Recurrent Unit)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latin typeface="Urbanist"/>
                          <a:ea typeface="Urbanist"/>
                          <a:cs typeface="Urbanist"/>
                          <a:sym typeface="Urbanist"/>
                        </a:rPr>
                        <a:t>12.5198</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latin typeface="Urbanist"/>
                          <a:ea typeface="Urbanist"/>
                          <a:cs typeface="Urbanist"/>
                          <a:sym typeface="Urbanist"/>
                        </a:rPr>
                        <a:t>11.2480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latin typeface="Urbanist"/>
                          <a:ea typeface="Urbanist"/>
                          <a:cs typeface="Urbanist"/>
                          <a:sym typeface="Urbanist"/>
                        </a:rPr>
                        <a:t>5.19%</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09725">
                <a:tc>
                  <a:txBody>
                    <a:bodyPr/>
                    <a:lstStyle/>
                    <a:p>
                      <a:pPr indent="0" lvl="0" marL="0" marR="0" rtl="0" algn="l">
                        <a:spcBef>
                          <a:spcPts val="0"/>
                        </a:spcBef>
                        <a:spcAft>
                          <a:spcPts val="0"/>
                        </a:spcAft>
                        <a:buNone/>
                      </a:pPr>
                      <a:r>
                        <a:rPr b="0" i="0" lang="en-US" sz="1125" u="none" cap="none" strike="noStrike">
                          <a:latin typeface="Urbanist"/>
                          <a:ea typeface="Urbanist"/>
                          <a:cs typeface="Urbanist"/>
                          <a:sym typeface="Urbanist"/>
                        </a:rPr>
                        <a:t>NVIDIA Corporation (NVDA)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latin typeface="Urbanist"/>
                          <a:ea typeface="Urbanist"/>
                          <a:cs typeface="Urbanist"/>
                          <a:sym typeface="Urbanist"/>
                        </a:rPr>
                        <a:t>LSTM (Long Short-Term Memory)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latin typeface="Urbanist"/>
                          <a:ea typeface="Urbanist"/>
                          <a:cs typeface="Urbanist"/>
                          <a:sym typeface="Urbanist"/>
                        </a:rPr>
                        <a:t>16.8560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latin typeface="Urbanist"/>
                          <a:ea typeface="Urbanist"/>
                          <a:cs typeface="Urbanist"/>
                          <a:sym typeface="Urbanist"/>
                        </a:rPr>
                        <a:t>12.6648</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latin typeface="Urbanist"/>
                          <a:ea typeface="Urbanist"/>
                          <a:cs typeface="Urbanist"/>
                          <a:sym typeface="Urbanist"/>
                        </a:rPr>
                        <a:t>9.15%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09725">
                <a:tc>
                  <a:txBody>
                    <a:bodyPr/>
                    <a:lstStyle/>
                    <a:p>
                      <a:pPr indent="0" lvl="0" marL="0" marR="0" rtl="0" algn="l">
                        <a:spcBef>
                          <a:spcPts val="0"/>
                        </a:spcBef>
                        <a:spcAft>
                          <a:spcPts val="0"/>
                        </a:spcAft>
                        <a:buNone/>
                      </a:pPr>
                      <a:r>
                        <a:rPr b="0" i="0" lang="en-US" sz="1125" u="none" cap="none" strike="noStrike">
                          <a:latin typeface="Urbanist SemiBold"/>
                          <a:ea typeface="Urbanist SemiBold"/>
                          <a:cs typeface="Urbanist SemiBold"/>
                          <a:sym typeface="Urbanist SemiBold"/>
                        </a:rPr>
                        <a:t>NVIDIA Corporation (NVDA)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0B981"/>
                    </a:solidFill>
                  </a:tcPr>
                </a:tc>
                <a:tc>
                  <a:txBody>
                    <a:bodyPr/>
                    <a:lstStyle/>
                    <a:p>
                      <a:pPr indent="0" lvl="0" marL="0" marR="0" rtl="0" algn="l">
                        <a:spcBef>
                          <a:spcPts val="0"/>
                        </a:spcBef>
                        <a:spcAft>
                          <a:spcPts val="0"/>
                        </a:spcAft>
                        <a:buNone/>
                      </a:pPr>
                      <a:r>
                        <a:rPr b="0" i="0" lang="en-US" sz="1125" u="none" cap="none" strike="noStrike">
                          <a:latin typeface="Urbanist SemiBold"/>
                          <a:ea typeface="Urbanist SemiBold"/>
                          <a:cs typeface="Urbanist SemiBold"/>
                          <a:sym typeface="Urbanist SemiBold"/>
                        </a:rPr>
                        <a:t>GRU (Gated Recurrent Unit)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0B981"/>
                    </a:solidFill>
                  </a:tcPr>
                </a:tc>
                <a:tc>
                  <a:txBody>
                    <a:bodyPr/>
                    <a:lstStyle/>
                    <a:p>
                      <a:pPr indent="0" lvl="0" marL="0" marR="0" rtl="0" algn="l">
                        <a:spcBef>
                          <a:spcPts val="0"/>
                        </a:spcBef>
                        <a:spcAft>
                          <a:spcPts val="0"/>
                        </a:spcAft>
                        <a:buNone/>
                      </a:pPr>
                      <a:r>
                        <a:rPr b="0" i="0" lang="en-US" sz="1125" u="none" cap="none" strike="noStrike">
                          <a:latin typeface="Urbanist SemiBold"/>
                          <a:ea typeface="Urbanist SemiBold"/>
                          <a:cs typeface="Urbanist SemiBold"/>
                          <a:sym typeface="Urbanist SemiBold"/>
                        </a:rPr>
                        <a:t>11.1918</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0B981"/>
                    </a:solidFill>
                  </a:tcPr>
                </a:tc>
                <a:tc>
                  <a:txBody>
                    <a:bodyPr/>
                    <a:lstStyle/>
                    <a:p>
                      <a:pPr indent="0" lvl="0" marL="0" marR="0" rtl="0" algn="l">
                        <a:spcBef>
                          <a:spcPts val="0"/>
                        </a:spcBef>
                        <a:spcAft>
                          <a:spcPts val="0"/>
                        </a:spcAft>
                        <a:buNone/>
                      </a:pPr>
                      <a:r>
                        <a:rPr b="0" i="0" lang="en-US" sz="1125" u="none" cap="none" strike="noStrike">
                          <a:latin typeface="Urbanist SemiBold"/>
                          <a:ea typeface="Urbanist SemiBold"/>
                          <a:cs typeface="Urbanist SemiBold"/>
                          <a:sym typeface="Urbanist SemiBold"/>
                        </a:rPr>
                        <a:t>8.6621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0B981"/>
                    </a:solidFill>
                  </a:tcPr>
                </a:tc>
                <a:tc>
                  <a:txBody>
                    <a:bodyPr/>
                    <a:lstStyle/>
                    <a:p>
                      <a:pPr indent="0" lvl="0" marL="0" marR="0" rtl="0" algn="l">
                        <a:spcBef>
                          <a:spcPts val="0"/>
                        </a:spcBef>
                        <a:spcAft>
                          <a:spcPts val="0"/>
                        </a:spcAft>
                        <a:buNone/>
                      </a:pPr>
                      <a:r>
                        <a:rPr b="0" i="0" lang="en-US" sz="1125" u="none" cap="none" strike="noStrike">
                          <a:latin typeface="Urbanist SemiBold"/>
                          <a:ea typeface="Urbanist SemiBold"/>
                          <a:cs typeface="Urbanist SemiBold"/>
                          <a:sym typeface="Urbanist SemiBold"/>
                        </a:rPr>
                        <a:t>6.78% (Optimal NVDA)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0B981"/>
                    </a:solidFill>
                  </a:tcPr>
                </a:tc>
              </a:tr>
              <a:tr h="509725">
                <a:tc>
                  <a:txBody>
                    <a:bodyPr/>
                    <a:lstStyle/>
                    <a:p>
                      <a:pPr indent="0" lvl="0" marL="0" marR="0" rtl="0" algn="l">
                        <a:spcBef>
                          <a:spcPts val="0"/>
                        </a:spcBef>
                        <a:spcAft>
                          <a:spcPts val="0"/>
                        </a:spcAft>
                        <a:buNone/>
                      </a:pPr>
                      <a:r>
                        <a:rPr b="0" i="0" lang="en-US" sz="1125" u="none" cap="none" strike="noStrike">
                          <a:latin typeface="Urbanist"/>
                          <a:ea typeface="Urbanist"/>
                          <a:cs typeface="Urbanist"/>
                          <a:sym typeface="Urbanist"/>
                        </a:rPr>
                        <a:t>JPMorgan Chase &amp; Co. (JPM)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latin typeface="Urbanist"/>
                          <a:ea typeface="Urbanist"/>
                          <a:cs typeface="Urbanist"/>
                          <a:sym typeface="Urbanist"/>
                        </a:rPr>
                        <a:t>LSTM (Long Short-Term Memory)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latin typeface="Urbanist"/>
                          <a:ea typeface="Urbanist"/>
                          <a:cs typeface="Urbanist"/>
                          <a:sym typeface="Urbanist"/>
                        </a:rPr>
                        <a:t>16.9901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latin typeface="Urbanist"/>
                          <a:ea typeface="Urbanist"/>
                          <a:cs typeface="Urbanist"/>
                          <a:sym typeface="Urbanist"/>
                        </a:rPr>
                        <a:t>13.1803</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latin typeface="Urbanist"/>
                          <a:ea typeface="Urbanist"/>
                          <a:cs typeface="Urbanist"/>
                          <a:sym typeface="Urbanist"/>
                        </a:rPr>
                        <a:t>5.27%</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09725">
                <a:tc>
                  <a:txBody>
                    <a:bodyPr/>
                    <a:lstStyle/>
                    <a:p>
                      <a:pPr indent="0" lvl="0" marL="0" marR="0" rtl="0" algn="l">
                        <a:spcBef>
                          <a:spcPts val="0"/>
                        </a:spcBef>
                        <a:spcAft>
                          <a:spcPts val="0"/>
                        </a:spcAft>
                        <a:buNone/>
                      </a:pPr>
                      <a:r>
                        <a:rPr b="0" i="0" lang="en-US" sz="1125" u="none" cap="none" strike="noStrike">
                          <a:latin typeface="Urbanist SemiBold"/>
                          <a:ea typeface="Urbanist SemiBold"/>
                          <a:cs typeface="Urbanist SemiBold"/>
                          <a:sym typeface="Urbanist SemiBold"/>
                        </a:rPr>
                        <a:t>JPMorgan Chase &amp; Co. (JPM)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0B981"/>
                    </a:solidFill>
                  </a:tcPr>
                </a:tc>
                <a:tc>
                  <a:txBody>
                    <a:bodyPr/>
                    <a:lstStyle/>
                    <a:p>
                      <a:pPr indent="0" lvl="0" marL="0" marR="0" rtl="0" algn="l">
                        <a:spcBef>
                          <a:spcPts val="0"/>
                        </a:spcBef>
                        <a:spcAft>
                          <a:spcPts val="0"/>
                        </a:spcAft>
                        <a:buNone/>
                      </a:pPr>
                      <a:r>
                        <a:rPr b="0" i="0" lang="en-US" sz="1125" u="none" cap="none" strike="noStrike">
                          <a:latin typeface="Urbanist SemiBold"/>
                          <a:ea typeface="Urbanist SemiBold"/>
                          <a:cs typeface="Urbanist SemiBold"/>
                          <a:sym typeface="Urbanist SemiBold"/>
                        </a:rPr>
                        <a:t>GRU (Gated Recurrent Unit)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0B981"/>
                    </a:solidFill>
                  </a:tcPr>
                </a:tc>
                <a:tc>
                  <a:txBody>
                    <a:bodyPr/>
                    <a:lstStyle/>
                    <a:p>
                      <a:pPr indent="0" lvl="0" marL="0" marR="0" rtl="0" algn="l">
                        <a:spcBef>
                          <a:spcPts val="0"/>
                        </a:spcBef>
                        <a:spcAft>
                          <a:spcPts val="0"/>
                        </a:spcAft>
                        <a:buNone/>
                      </a:pPr>
                      <a:r>
                        <a:rPr b="0" i="0" lang="en-US" sz="1125" u="none" cap="none" strike="noStrike">
                          <a:latin typeface="Urbanist SemiBold"/>
                          <a:ea typeface="Urbanist SemiBold"/>
                          <a:cs typeface="Urbanist SemiBold"/>
                          <a:sym typeface="Urbanist SemiBold"/>
                        </a:rPr>
                        <a:t>6.2322</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0B981"/>
                    </a:solidFill>
                  </a:tcPr>
                </a:tc>
                <a:tc>
                  <a:txBody>
                    <a:bodyPr/>
                    <a:lstStyle/>
                    <a:p>
                      <a:pPr indent="0" lvl="0" marL="0" marR="0" rtl="0" algn="l">
                        <a:spcBef>
                          <a:spcPts val="0"/>
                        </a:spcBef>
                        <a:spcAft>
                          <a:spcPts val="0"/>
                        </a:spcAft>
                        <a:buNone/>
                      </a:pPr>
                      <a:r>
                        <a:rPr b="0" i="0" lang="en-US" sz="1125" u="none" cap="none" strike="noStrike">
                          <a:latin typeface="Urbanist SemiBold"/>
                          <a:ea typeface="Urbanist SemiBold"/>
                          <a:cs typeface="Urbanist SemiBold"/>
                          <a:sym typeface="Urbanist SemiBold"/>
                        </a:rPr>
                        <a:t>4.6315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0B981"/>
                    </a:solidFill>
                  </a:tcPr>
                </a:tc>
                <a:tc>
                  <a:txBody>
                    <a:bodyPr/>
                    <a:lstStyle/>
                    <a:p>
                      <a:pPr indent="0" lvl="0" marL="0" marR="0" rtl="0" algn="l">
                        <a:spcBef>
                          <a:spcPts val="0"/>
                        </a:spcBef>
                        <a:spcAft>
                          <a:spcPts val="0"/>
                        </a:spcAft>
                        <a:buNone/>
                      </a:pPr>
                      <a:r>
                        <a:rPr b="0" i="0" lang="en-US" sz="1125" u="none" cap="none" strike="noStrike">
                          <a:latin typeface="Urbanist SemiBold"/>
                          <a:ea typeface="Urbanist SemiBold"/>
                          <a:cs typeface="Urbanist SemiBold"/>
                          <a:sym typeface="Urbanist SemiBold"/>
                        </a:rPr>
                        <a:t>1.97% (Study Peak Accuracy)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0B981"/>
                    </a:solidFill>
                  </a:tcPr>
                </a:tc>
              </a:tr>
            </a:tbl>
          </a:graphicData>
        </a:graphic>
      </p:graphicFrame>
      <p:sp>
        <p:nvSpPr>
          <p:cNvPr id="215" name="Google Shape;215;p24"/>
          <p:cNvSpPr/>
          <p:nvPr/>
        </p:nvSpPr>
        <p:spPr>
          <a:xfrm>
            <a:off x="776287" y="2593627"/>
            <a:ext cx="2735312" cy="1905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6" name="Google Shape;216;p24"/>
          <p:cNvSpPr/>
          <p:nvPr/>
        </p:nvSpPr>
        <p:spPr>
          <a:xfrm>
            <a:off x="3511599" y="2593627"/>
            <a:ext cx="2790825" cy="1905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7" name="Google Shape;217;p24"/>
          <p:cNvSpPr/>
          <p:nvPr/>
        </p:nvSpPr>
        <p:spPr>
          <a:xfrm>
            <a:off x="6302424" y="2593627"/>
            <a:ext cx="1410444" cy="1905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8" name="Google Shape;218;p24"/>
          <p:cNvSpPr/>
          <p:nvPr/>
        </p:nvSpPr>
        <p:spPr>
          <a:xfrm>
            <a:off x="7712868" y="2593627"/>
            <a:ext cx="1319807" cy="1905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9" name="Google Shape;219;p24"/>
          <p:cNvSpPr/>
          <p:nvPr/>
        </p:nvSpPr>
        <p:spPr>
          <a:xfrm>
            <a:off x="9032676" y="2593627"/>
            <a:ext cx="2383035" cy="1905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0" name="Google Shape;220;p24"/>
          <p:cNvSpPr/>
          <p:nvPr/>
        </p:nvSpPr>
        <p:spPr>
          <a:xfrm>
            <a:off x="776287" y="3112740"/>
            <a:ext cx="2735312"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1" name="Google Shape;221;p24"/>
          <p:cNvSpPr/>
          <p:nvPr/>
        </p:nvSpPr>
        <p:spPr>
          <a:xfrm>
            <a:off x="3511599" y="3112740"/>
            <a:ext cx="2790825"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2" name="Google Shape;222;p24"/>
          <p:cNvSpPr/>
          <p:nvPr/>
        </p:nvSpPr>
        <p:spPr>
          <a:xfrm>
            <a:off x="6302424" y="3112740"/>
            <a:ext cx="1410444"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3" name="Google Shape;223;p24"/>
          <p:cNvSpPr/>
          <p:nvPr/>
        </p:nvSpPr>
        <p:spPr>
          <a:xfrm>
            <a:off x="7712868" y="3112740"/>
            <a:ext cx="1319807"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4" name="Google Shape;224;p24"/>
          <p:cNvSpPr/>
          <p:nvPr/>
        </p:nvSpPr>
        <p:spPr>
          <a:xfrm>
            <a:off x="9032676" y="3112740"/>
            <a:ext cx="2383035"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5" name="Google Shape;225;p24"/>
          <p:cNvSpPr/>
          <p:nvPr/>
        </p:nvSpPr>
        <p:spPr>
          <a:xfrm>
            <a:off x="776287" y="3617565"/>
            <a:ext cx="2735312"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6" name="Google Shape;226;p24"/>
          <p:cNvSpPr/>
          <p:nvPr/>
        </p:nvSpPr>
        <p:spPr>
          <a:xfrm>
            <a:off x="3511599" y="3617565"/>
            <a:ext cx="2790825"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7" name="Google Shape;227;p24"/>
          <p:cNvSpPr/>
          <p:nvPr/>
        </p:nvSpPr>
        <p:spPr>
          <a:xfrm>
            <a:off x="6302424" y="3617565"/>
            <a:ext cx="1410444"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8" name="Google Shape;228;p24"/>
          <p:cNvSpPr/>
          <p:nvPr/>
        </p:nvSpPr>
        <p:spPr>
          <a:xfrm>
            <a:off x="7712868" y="3617565"/>
            <a:ext cx="1319807"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9" name="Google Shape;229;p24"/>
          <p:cNvSpPr/>
          <p:nvPr/>
        </p:nvSpPr>
        <p:spPr>
          <a:xfrm>
            <a:off x="9032676" y="3617565"/>
            <a:ext cx="2383035"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0" name="Google Shape;230;p24"/>
          <p:cNvSpPr/>
          <p:nvPr/>
        </p:nvSpPr>
        <p:spPr>
          <a:xfrm>
            <a:off x="776287" y="4122390"/>
            <a:ext cx="2735312"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1" name="Google Shape;231;p24"/>
          <p:cNvSpPr/>
          <p:nvPr/>
        </p:nvSpPr>
        <p:spPr>
          <a:xfrm>
            <a:off x="3511599" y="4122390"/>
            <a:ext cx="2790825"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2" name="Google Shape;232;p24"/>
          <p:cNvSpPr/>
          <p:nvPr/>
        </p:nvSpPr>
        <p:spPr>
          <a:xfrm>
            <a:off x="6302424" y="4122390"/>
            <a:ext cx="1410444"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3" name="Google Shape;233;p24"/>
          <p:cNvSpPr/>
          <p:nvPr/>
        </p:nvSpPr>
        <p:spPr>
          <a:xfrm>
            <a:off x="7712868" y="4122390"/>
            <a:ext cx="1319807"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4" name="Google Shape;234;p24"/>
          <p:cNvSpPr/>
          <p:nvPr/>
        </p:nvSpPr>
        <p:spPr>
          <a:xfrm>
            <a:off x="9032676" y="4122390"/>
            <a:ext cx="2383035"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5" name="Google Shape;235;p24"/>
          <p:cNvSpPr/>
          <p:nvPr/>
        </p:nvSpPr>
        <p:spPr>
          <a:xfrm>
            <a:off x="776287" y="4627215"/>
            <a:ext cx="2735312"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6" name="Google Shape;236;p24"/>
          <p:cNvSpPr/>
          <p:nvPr/>
        </p:nvSpPr>
        <p:spPr>
          <a:xfrm>
            <a:off x="3511599" y="4627215"/>
            <a:ext cx="2790825"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7" name="Google Shape;237;p24"/>
          <p:cNvSpPr/>
          <p:nvPr/>
        </p:nvSpPr>
        <p:spPr>
          <a:xfrm>
            <a:off x="6302424" y="4627215"/>
            <a:ext cx="1410444"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8" name="Google Shape;238;p24"/>
          <p:cNvSpPr/>
          <p:nvPr/>
        </p:nvSpPr>
        <p:spPr>
          <a:xfrm>
            <a:off x="7712868" y="4627215"/>
            <a:ext cx="1319807"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9" name="Google Shape;239;p24"/>
          <p:cNvSpPr/>
          <p:nvPr/>
        </p:nvSpPr>
        <p:spPr>
          <a:xfrm>
            <a:off x="9032676" y="4627215"/>
            <a:ext cx="2383035"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0" name="Google Shape;240;p24"/>
          <p:cNvSpPr/>
          <p:nvPr/>
        </p:nvSpPr>
        <p:spPr>
          <a:xfrm>
            <a:off x="776287" y="5132040"/>
            <a:ext cx="2735312"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1" name="Google Shape;241;p24"/>
          <p:cNvSpPr/>
          <p:nvPr/>
        </p:nvSpPr>
        <p:spPr>
          <a:xfrm>
            <a:off x="3511599" y="5132040"/>
            <a:ext cx="2790825"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2" name="Google Shape;242;p24"/>
          <p:cNvSpPr/>
          <p:nvPr/>
        </p:nvSpPr>
        <p:spPr>
          <a:xfrm>
            <a:off x="6302424" y="5132040"/>
            <a:ext cx="1410444"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3" name="Google Shape;243;p24"/>
          <p:cNvSpPr/>
          <p:nvPr/>
        </p:nvSpPr>
        <p:spPr>
          <a:xfrm>
            <a:off x="7712868" y="5132040"/>
            <a:ext cx="1319807"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4" name="Google Shape;244;p24"/>
          <p:cNvSpPr/>
          <p:nvPr/>
        </p:nvSpPr>
        <p:spPr>
          <a:xfrm>
            <a:off x="9032676" y="5132040"/>
            <a:ext cx="2383035"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5" name="Google Shape;245;p24"/>
          <p:cNvSpPr txBox="1"/>
          <p:nvPr/>
        </p:nvSpPr>
        <p:spPr>
          <a:xfrm>
            <a:off x="962025" y="581025"/>
            <a:ext cx="10981372" cy="542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3F4F6"/>
                </a:solidFill>
                <a:latin typeface="Poppins"/>
                <a:ea typeface="Poppins"/>
                <a:cs typeface="Poppins"/>
                <a:sym typeface="Poppins"/>
              </a:rPr>
              <a:t>Consolidated Metrics Synthesis</a:t>
            </a:r>
            <a:endParaRPr/>
          </a:p>
        </p:txBody>
      </p:sp>
      <p:sp>
        <p:nvSpPr>
          <p:cNvPr id="246" name="Google Shape;246;p24"/>
          <p:cNvSpPr/>
          <p:nvPr/>
        </p:nvSpPr>
        <p:spPr>
          <a:xfrm>
            <a:off x="771525" y="581025"/>
            <a:ext cx="57150" cy="542925"/>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9"/>
        </a:solidFill>
      </p:bgPr>
    </p:bg>
    <p:spTree>
      <p:nvGrpSpPr>
        <p:cNvPr id="250" name="Shape 250"/>
        <p:cNvGrpSpPr/>
        <p:nvPr/>
      </p:nvGrpSpPr>
      <p:grpSpPr>
        <a:xfrm>
          <a:off x="0" y="0"/>
          <a:ext cx="0" cy="0"/>
          <a:chOff x="0" y="0"/>
          <a:chExt cx="0" cy="0"/>
        </a:xfrm>
      </p:grpSpPr>
      <p:pic>
        <p:nvPicPr>
          <p:cNvPr descr="image.png" id="251" name="Google Shape;251;p2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52" name="Google Shape;252;p25"/>
          <p:cNvPicPr preferRelativeResize="0"/>
          <p:nvPr/>
        </p:nvPicPr>
        <p:blipFill rotWithShape="1">
          <a:blip r:embed="rId4">
            <a:alphaModFix/>
          </a:blip>
          <a:srcRect b="0" l="0" r="0" t="0"/>
          <a:stretch/>
        </p:blipFill>
        <p:spPr>
          <a:xfrm>
            <a:off x="771525" y="2727870"/>
            <a:ext cx="10648950" cy="3048000"/>
          </a:xfrm>
          <a:prstGeom prst="rect">
            <a:avLst/>
          </a:prstGeom>
          <a:noFill/>
          <a:ln>
            <a:noFill/>
          </a:ln>
        </p:spPr>
      </p:pic>
      <p:sp>
        <p:nvSpPr>
          <p:cNvPr id="253" name="Google Shape;253;p25"/>
          <p:cNvSpPr txBox="1"/>
          <p:nvPr/>
        </p:nvSpPr>
        <p:spPr>
          <a:xfrm>
            <a:off x="771525" y="1958429"/>
            <a:ext cx="1064895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9CA3AF"/>
                </a:solidFill>
                <a:latin typeface="Urbanist"/>
                <a:ea typeface="Urbanist"/>
                <a:cs typeface="Urbanist"/>
                <a:sym typeface="Urbanist"/>
              </a:rPr>
              <a:t>The neural models optimize errors by taking a mathematical shortcut: </a:t>
            </a:r>
            <a:r>
              <a:rPr b="0" i="0" lang="en-US" sz="1425" u="none" cap="none" strike="noStrike">
                <a:solidFill>
                  <a:srgbClr val="10B981"/>
                </a:solidFill>
                <a:latin typeface="Urbanist SemiBold"/>
                <a:ea typeface="Urbanist SemiBold"/>
                <a:cs typeface="Urbanist SemiBold"/>
                <a:sym typeface="Urbanist SemiBold"/>
              </a:rPr>
              <a:t>copying yesterday's price</a:t>
            </a:r>
            <a:r>
              <a:rPr b="0" i="0" lang="en-US" sz="1425" u="none" cap="none" strike="noStrike">
                <a:solidFill>
                  <a:srgbClr val="9CA3AF"/>
                </a:solidFill>
                <a:latin typeface="Urbanist"/>
                <a:ea typeface="Urbanist"/>
                <a:cs typeface="Urbanist"/>
                <a:sym typeface="Urbanist"/>
              </a:rPr>
              <a:t> with minor edits. This creates a time-phase delay at major trend shifts.</a:t>
            </a:r>
            <a:endParaRPr/>
          </a:p>
        </p:txBody>
      </p:sp>
      <p:sp>
        <p:nvSpPr>
          <p:cNvPr id="254" name="Google Shape;254;p25"/>
          <p:cNvSpPr txBox="1"/>
          <p:nvPr/>
        </p:nvSpPr>
        <p:spPr>
          <a:xfrm>
            <a:off x="962025" y="581025"/>
            <a:ext cx="10981372" cy="542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3F4F6"/>
                </a:solidFill>
                <a:latin typeface="Poppins"/>
                <a:ea typeface="Poppins"/>
                <a:cs typeface="Poppins"/>
                <a:sym typeface="Poppins"/>
              </a:rPr>
              <a:t>The Lag Effect Anomaly</a:t>
            </a:r>
            <a:endParaRPr/>
          </a:p>
        </p:txBody>
      </p:sp>
      <p:sp>
        <p:nvSpPr>
          <p:cNvPr id="255" name="Google Shape;255;p25"/>
          <p:cNvSpPr/>
          <p:nvPr/>
        </p:nvSpPr>
        <p:spPr>
          <a:xfrm>
            <a:off x="771525" y="581025"/>
            <a:ext cx="57150" cy="542925"/>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9"/>
        </a:solidFill>
      </p:bgPr>
    </p:bg>
    <p:spTree>
      <p:nvGrpSpPr>
        <p:cNvPr id="259" name="Shape 259"/>
        <p:cNvGrpSpPr/>
        <p:nvPr/>
      </p:nvGrpSpPr>
      <p:grpSpPr>
        <a:xfrm>
          <a:off x="0" y="0"/>
          <a:ext cx="0" cy="0"/>
          <a:chOff x="0" y="0"/>
          <a:chExt cx="0" cy="0"/>
        </a:xfrm>
      </p:grpSpPr>
      <p:pic>
        <p:nvPicPr>
          <p:cNvPr descr="image.png" id="260" name="Google Shape;260;p2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61" name="Google Shape;261;p26"/>
          <p:cNvPicPr preferRelativeResize="0"/>
          <p:nvPr/>
        </p:nvPicPr>
        <p:blipFill rotWithShape="1">
          <a:blip r:embed="rId4">
            <a:alphaModFix/>
          </a:blip>
          <a:srcRect b="0" l="0" r="0" t="0"/>
          <a:stretch/>
        </p:blipFill>
        <p:spPr>
          <a:xfrm>
            <a:off x="771525" y="2548086"/>
            <a:ext cx="5181600" cy="2637978"/>
          </a:xfrm>
          <a:prstGeom prst="rect">
            <a:avLst/>
          </a:prstGeom>
          <a:noFill/>
          <a:ln>
            <a:noFill/>
          </a:ln>
        </p:spPr>
      </p:pic>
      <p:pic>
        <p:nvPicPr>
          <p:cNvPr descr="image.png" id="262" name="Google Shape;262;p26"/>
          <p:cNvPicPr preferRelativeResize="0"/>
          <p:nvPr/>
        </p:nvPicPr>
        <p:blipFill rotWithShape="1">
          <a:blip r:embed="rId4">
            <a:alphaModFix/>
          </a:blip>
          <a:srcRect b="0" l="0" r="0" t="0"/>
          <a:stretch/>
        </p:blipFill>
        <p:spPr>
          <a:xfrm>
            <a:off x="6238875" y="2548086"/>
            <a:ext cx="5181600" cy="2637978"/>
          </a:xfrm>
          <a:prstGeom prst="rect">
            <a:avLst/>
          </a:prstGeom>
          <a:noFill/>
          <a:ln>
            <a:noFill/>
          </a:ln>
        </p:spPr>
      </p:pic>
      <p:sp>
        <p:nvSpPr>
          <p:cNvPr id="263" name="Google Shape;263;p26"/>
          <p:cNvSpPr txBox="1"/>
          <p:nvPr/>
        </p:nvSpPr>
        <p:spPr>
          <a:xfrm>
            <a:off x="1485900" y="2890986"/>
            <a:ext cx="4330541" cy="3333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F3F4F6"/>
                </a:solidFill>
                <a:latin typeface="Poppins"/>
                <a:ea typeface="Poppins"/>
                <a:cs typeface="Poppins"/>
                <a:sym typeface="Poppins"/>
              </a:rPr>
              <a:t>Architectural Trade-offs</a:t>
            </a:r>
            <a:endParaRPr/>
          </a:p>
        </p:txBody>
      </p:sp>
      <p:sp>
        <p:nvSpPr>
          <p:cNvPr id="264" name="Google Shape;264;p26"/>
          <p:cNvSpPr txBox="1"/>
          <p:nvPr/>
        </p:nvSpPr>
        <p:spPr>
          <a:xfrm>
            <a:off x="1114425" y="3395811"/>
            <a:ext cx="4495800" cy="86841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9CA3AF"/>
                </a:solidFill>
                <a:latin typeface="Urbanist"/>
                <a:ea typeface="Urbanist"/>
                <a:cs typeface="Urbanist"/>
                <a:sym typeface="Urbanist"/>
              </a:rPr>
              <a:t>No model is globally superior. </a:t>
            </a:r>
            <a:r>
              <a:rPr b="0" i="0" lang="en-US" sz="1425" u="none" cap="none" strike="noStrike">
                <a:solidFill>
                  <a:srgbClr val="10B981"/>
                </a:solidFill>
                <a:latin typeface="Urbanist SemiBold"/>
                <a:ea typeface="Urbanist SemiBold"/>
                <a:cs typeface="Urbanist SemiBold"/>
                <a:sym typeface="Urbanist SemiBold"/>
              </a:rPr>
              <a:t>LSTM</a:t>
            </a:r>
            <a:r>
              <a:rPr b="0" i="0" lang="en-US" sz="1425" u="none" cap="none" strike="noStrike">
                <a:solidFill>
                  <a:srgbClr val="9CA3AF"/>
                </a:solidFill>
                <a:latin typeface="Urbanist"/>
                <a:ea typeface="Urbanist"/>
                <a:cs typeface="Urbanist"/>
                <a:sym typeface="Urbanist"/>
              </a:rPr>
              <a:t> excels under linear stability (Apple), while </a:t>
            </a:r>
            <a:r>
              <a:rPr b="0" i="0" lang="en-US" sz="1425" u="none" cap="none" strike="noStrike">
                <a:solidFill>
                  <a:srgbClr val="10B981"/>
                </a:solidFill>
                <a:latin typeface="Urbanist SemiBold"/>
                <a:ea typeface="Urbanist SemiBold"/>
                <a:cs typeface="Urbanist SemiBold"/>
                <a:sym typeface="Urbanist SemiBold"/>
              </a:rPr>
              <a:t>GRU</a:t>
            </a:r>
            <a:r>
              <a:rPr b="0" i="0" lang="en-US" sz="1425" u="none" cap="none" strike="noStrike">
                <a:solidFill>
                  <a:srgbClr val="9CA3AF"/>
                </a:solidFill>
                <a:latin typeface="Urbanist"/>
                <a:ea typeface="Urbanist"/>
                <a:cs typeface="Urbanist"/>
                <a:sym typeface="Urbanist"/>
              </a:rPr>
              <a:t> dominates volatile regimes (NVIDIA) and cycles with lower training costs.</a:t>
            </a:r>
            <a:endParaRPr/>
          </a:p>
        </p:txBody>
      </p:sp>
      <p:sp>
        <p:nvSpPr>
          <p:cNvPr id="265" name="Google Shape;265;p26"/>
          <p:cNvSpPr txBox="1"/>
          <p:nvPr/>
        </p:nvSpPr>
        <p:spPr>
          <a:xfrm>
            <a:off x="6867525" y="2890986"/>
            <a:ext cx="4420552" cy="3333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F3F4F6"/>
                </a:solidFill>
                <a:latin typeface="Poppins"/>
                <a:ea typeface="Poppins"/>
                <a:cs typeface="Poppins"/>
                <a:sym typeface="Poppins"/>
              </a:rPr>
              <a:t>Future Enhancements</a:t>
            </a:r>
            <a:endParaRPr/>
          </a:p>
        </p:txBody>
      </p:sp>
      <p:sp>
        <p:nvSpPr>
          <p:cNvPr id="266" name="Google Shape;266;p26"/>
          <p:cNvSpPr txBox="1"/>
          <p:nvPr/>
        </p:nvSpPr>
        <p:spPr>
          <a:xfrm>
            <a:off x="6581775" y="3395811"/>
            <a:ext cx="4495800" cy="19734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10B981"/>
                </a:solidFill>
                <a:latin typeface="Urbanist SemiBold"/>
                <a:ea typeface="Urbanist SemiBold"/>
                <a:cs typeface="Urbanist SemiBold"/>
                <a:sym typeface="Urbanist SemiBold"/>
              </a:rPr>
              <a:t>Hybrid Systems:</a:t>
            </a:r>
            <a:r>
              <a:rPr b="0" i="0" lang="en-US" sz="1425" u="none" cap="none" strike="noStrike">
                <a:solidFill>
                  <a:srgbClr val="9CA3AF"/>
                </a:solidFill>
                <a:latin typeface="Urbanist"/>
                <a:ea typeface="Urbanist"/>
                <a:cs typeface="Urbanist"/>
                <a:sym typeface="Urbanist"/>
              </a:rPr>
              <a:t> Introducing Wavelets to clear high-frequency market noise.</a:t>
            </a:r>
            <a:endParaRPr b="0" i="0" sz="1425" u="none" cap="none" strike="noStrike">
              <a:solidFill>
                <a:srgbClr val="9CA3AF"/>
              </a:solidFill>
              <a:latin typeface="Urbanist"/>
              <a:ea typeface="Urbanist"/>
              <a:cs typeface="Urbanist"/>
              <a:sym typeface="Urbanist"/>
            </a:endParaRPr>
          </a:p>
          <a:p>
            <a:pPr indent="0" lvl="0" marL="0" rtl="0" algn="l">
              <a:lnSpc>
                <a:spcPct val="159929"/>
              </a:lnSpc>
              <a:spcBef>
                <a:spcPts val="0"/>
              </a:spcBef>
              <a:spcAft>
                <a:spcPts val="0"/>
              </a:spcAft>
              <a:buClr>
                <a:schemeClr val="dk1"/>
              </a:buClr>
              <a:buFont typeface="Arial"/>
              <a:buNone/>
            </a:pPr>
            <a:r>
              <a:rPr lang="en-US" sz="1425">
                <a:solidFill>
                  <a:srgbClr val="10B981"/>
                </a:solidFill>
                <a:latin typeface="Urbanist SemiBold"/>
                <a:ea typeface="Urbanist SemiBold"/>
                <a:cs typeface="Urbanist SemiBold"/>
                <a:sym typeface="Urbanist SemiBold"/>
              </a:rPr>
              <a:t>Multimodal NLP:</a:t>
            </a:r>
            <a:r>
              <a:rPr lang="en-US" sz="1425">
                <a:solidFill>
                  <a:srgbClr val="9CA3AF"/>
                </a:solidFill>
                <a:latin typeface="Urbanist"/>
                <a:ea typeface="Urbanist"/>
                <a:cs typeface="Urbanist"/>
                <a:sym typeface="Urbanist"/>
              </a:rPr>
              <a:t> Integrating live sentiment scores from financial feeds to react instantly to economic policy shifts.</a:t>
            </a:r>
            <a:endParaRPr>
              <a:solidFill>
                <a:schemeClr val="dk1"/>
              </a:solidFill>
            </a:endParaRPr>
          </a:p>
          <a:p>
            <a:pPr indent="0" lvl="0" marL="0" marR="0" rtl="0" algn="l">
              <a:lnSpc>
                <a:spcPct val="159929"/>
              </a:lnSpc>
              <a:spcBef>
                <a:spcPts val="0"/>
              </a:spcBef>
              <a:spcAft>
                <a:spcPts val="0"/>
              </a:spcAft>
              <a:buNone/>
            </a:pPr>
            <a:r>
              <a:t/>
            </a:r>
            <a:endParaRPr sz="1425">
              <a:solidFill>
                <a:srgbClr val="9CA3AF"/>
              </a:solidFill>
              <a:latin typeface="Urbanist"/>
              <a:ea typeface="Urbanist"/>
              <a:cs typeface="Urbanist"/>
              <a:sym typeface="Urbanist"/>
            </a:endParaRPr>
          </a:p>
        </p:txBody>
      </p:sp>
      <p:pic>
        <p:nvPicPr>
          <p:cNvPr descr="image.png" id="267" name="Google Shape;267;p26"/>
          <p:cNvPicPr preferRelativeResize="0"/>
          <p:nvPr/>
        </p:nvPicPr>
        <p:blipFill rotWithShape="1">
          <a:blip r:embed="rId5">
            <a:alphaModFix/>
          </a:blip>
          <a:srcRect b="0" l="0" r="0" t="0"/>
          <a:stretch/>
        </p:blipFill>
        <p:spPr>
          <a:xfrm>
            <a:off x="1114425" y="2943373"/>
            <a:ext cx="257175" cy="228600"/>
          </a:xfrm>
          <a:prstGeom prst="rect">
            <a:avLst/>
          </a:prstGeom>
          <a:noFill/>
          <a:ln>
            <a:noFill/>
          </a:ln>
        </p:spPr>
      </p:pic>
      <p:pic>
        <p:nvPicPr>
          <p:cNvPr descr="image.png" id="268" name="Google Shape;268;p26"/>
          <p:cNvPicPr preferRelativeResize="0"/>
          <p:nvPr/>
        </p:nvPicPr>
        <p:blipFill rotWithShape="1">
          <a:blip r:embed="rId6">
            <a:alphaModFix/>
          </a:blip>
          <a:srcRect b="0" l="0" r="0" t="0"/>
          <a:stretch/>
        </p:blipFill>
        <p:spPr>
          <a:xfrm>
            <a:off x="6581775" y="2943373"/>
            <a:ext cx="171450" cy="228600"/>
          </a:xfrm>
          <a:prstGeom prst="rect">
            <a:avLst/>
          </a:prstGeom>
          <a:noFill/>
          <a:ln>
            <a:noFill/>
          </a:ln>
        </p:spPr>
      </p:pic>
      <p:sp>
        <p:nvSpPr>
          <p:cNvPr id="269" name="Google Shape;269;p26"/>
          <p:cNvSpPr txBox="1"/>
          <p:nvPr/>
        </p:nvSpPr>
        <p:spPr>
          <a:xfrm>
            <a:off x="962025" y="581025"/>
            <a:ext cx="10981372" cy="542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3F4F6"/>
                </a:solidFill>
                <a:latin typeface="Poppins"/>
                <a:ea typeface="Poppins"/>
                <a:cs typeface="Poppins"/>
                <a:sym typeface="Poppins"/>
              </a:rPr>
              <a:t>Conclusions and Future Work</a:t>
            </a:r>
            <a:endParaRPr/>
          </a:p>
        </p:txBody>
      </p:sp>
      <p:sp>
        <p:nvSpPr>
          <p:cNvPr id="270" name="Google Shape;270;p26"/>
          <p:cNvSpPr/>
          <p:nvPr/>
        </p:nvSpPr>
        <p:spPr>
          <a:xfrm>
            <a:off x="771525" y="581025"/>
            <a:ext cx="57150" cy="542925"/>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9"/>
        </a:solidFill>
      </p:bgPr>
    </p:bg>
    <p:spTree>
      <p:nvGrpSpPr>
        <p:cNvPr id="274" name="Shape 274"/>
        <p:cNvGrpSpPr/>
        <p:nvPr/>
      </p:nvGrpSpPr>
      <p:grpSpPr>
        <a:xfrm>
          <a:off x="0" y="0"/>
          <a:ext cx="0" cy="0"/>
          <a:chOff x="0" y="0"/>
          <a:chExt cx="0" cy="0"/>
        </a:xfrm>
      </p:grpSpPr>
      <p:pic>
        <p:nvPicPr>
          <p:cNvPr descr="image.png" id="275" name="Google Shape;275;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76" name="Google Shape;276;p27"/>
          <p:cNvPicPr preferRelativeResize="0"/>
          <p:nvPr/>
        </p:nvPicPr>
        <p:blipFill rotWithShape="1">
          <a:blip r:embed="rId4">
            <a:alphaModFix/>
          </a:blip>
          <a:srcRect b="0" l="0" r="0" t="0"/>
          <a:stretch/>
        </p:blipFill>
        <p:spPr>
          <a:xfrm>
            <a:off x="2576512" y="4059435"/>
            <a:ext cx="7038975" cy="704850"/>
          </a:xfrm>
          <a:prstGeom prst="rect">
            <a:avLst/>
          </a:prstGeom>
          <a:noFill/>
          <a:ln>
            <a:noFill/>
          </a:ln>
        </p:spPr>
      </p:pic>
      <p:sp>
        <p:nvSpPr>
          <p:cNvPr id="277" name="Google Shape;277;p27"/>
          <p:cNvSpPr txBox="1"/>
          <p:nvPr/>
        </p:nvSpPr>
        <p:spPr>
          <a:xfrm>
            <a:off x="4000738" y="2093565"/>
            <a:ext cx="4190523" cy="1028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5400" u="none" cap="none" strike="noStrike">
                <a:solidFill>
                  <a:srgbClr val="10B981"/>
                </a:solidFill>
                <a:latin typeface="Poppins"/>
                <a:ea typeface="Poppins"/>
                <a:cs typeface="Poppins"/>
                <a:sym typeface="Poppins"/>
              </a:rPr>
              <a:t>Thank You!</a:t>
            </a:r>
            <a:endParaRPr/>
          </a:p>
        </p:txBody>
      </p:sp>
      <p:sp>
        <p:nvSpPr>
          <p:cNvPr id="278" name="Google Shape;278;p27"/>
          <p:cNvSpPr txBox="1"/>
          <p:nvPr/>
        </p:nvSpPr>
        <p:spPr>
          <a:xfrm>
            <a:off x="4776787" y="4307085"/>
            <a:ext cx="2724150" cy="2095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350" u="none" cap="none" strike="noStrike">
                <a:solidFill>
                  <a:srgbClr val="10B981"/>
                </a:solidFill>
                <a:latin typeface="Urbanist"/>
                <a:ea typeface="Urbanist"/>
                <a:cs typeface="Urbanist"/>
                <a:sym typeface="Urbanist"/>
              </a:rPr>
              <a:t>Information Systems for e-Business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